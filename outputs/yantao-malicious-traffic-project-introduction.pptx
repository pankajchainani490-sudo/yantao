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2d2ff0d42264ead" /><Relationship Type="http://schemas.openxmlformats.org/officeDocument/2006/relationships/extended-properties" Target="/docProps/app.xml" Id="R6258de3203ec4402" /><Relationship Type="http://schemas.openxmlformats.org/officeDocument/2006/relationships/officeDocument" Target="/ppt/presentation.xml" Id="R3951301721294d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ad3537af194edd"/>
  </p:sldMasterIdLst>
  <p:notesMasterIdLst>
    <p:notesMasterId xmlns:r="http://schemas.openxmlformats.org/officeDocument/2006/relationships" r:id="Raf708969938f497f"/>
  </p:notesMasterIdLst>
  <p:sldIdLst>
    <p:sldId xmlns:r="http://schemas.openxmlformats.org/officeDocument/2006/relationships" id="256" r:id="Ra2d744c718004a96"/>
    <p:sldId xmlns:r="http://schemas.openxmlformats.org/officeDocument/2006/relationships" id="257" r:id="Raca35bd9bf0d44c0"/>
    <p:sldId xmlns:r="http://schemas.openxmlformats.org/officeDocument/2006/relationships" id="258" r:id="Rcd2840130ce74e2a"/>
    <p:sldId xmlns:r="http://schemas.openxmlformats.org/officeDocument/2006/relationships" id="259" r:id="Rb27723fb0b8b4617"/>
    <p:sldId xmlns:r="http://schemas.openxmlformats.org/officeDocument/2006/relationships" id="260" r:id="Rcc7d08a9fcad44e0"/>
    <p:sldId xmlns:r="http://schemas.openxmlformats.org/officeDocument/2006/relationships" id="261" r:id="Rc13c234a0cdd46e6"/>
    <p:sldId xmlns:r="http://schemas.openxmlformats.org/officeDocument/2006/relationships" id="262" r:id="R68cc46b25da24220"/>
    <p:sldId xmlns:r="http://schemas.openxmlformats.org/officeDocument/2006/relationships" id="263" r:id="R62302967e1184b62"/>
    <p:sldId xmlns:r="http://schemas.openxmlformats.org/officeDocument/2006/relationships" id="264" r:id="Rb710ac62068b4935"/>
    <p:sldId xmlns:r="http://schemas.openxmlformats.org/officeDocument/2006/relationships" id="265" r:id="R42d15132e7954589"/>
    <p:sldId xmlns:r="http://schemas.openxmlformats.org/officeDocument/2006/relationships" id="266" r:id="R47fa210bad4146a2"/>
    <p:sldId xmlns:r="http://schemas.openxmlformats.org/officeDocument/2006/relationships" id="267" r:id="R684efecf6b384d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1584c147774c8c" /><Relationship Type="http://schemas.openxmlformats.org/officeDocument/2006/relationships/slideMaster" Target="/ppt/slideMasters/slideMaster1.xml" Id="Recad3537af194edd" /><Relationship Type="http://schemas.openxmlformats.org/officeDocument/2006/relationships/notesMaster" Target="/ppt/notesMasters/notesMaster1.xml" Id="Raf708969938f497f" /><Relationship Type="http://schemas.openxmlformats.org/officeDocument/2006/relationships/presProps" Target="/ppt/presProps.xml" Id="R32fd9e8ec84246d3" /><Relationship Type="http://schemas.openxmlformats.org/officeDocument/2006/relationships/tableStyles" Target="/ppt/tableStyles.xml" Id="Rc770d9b339454622" /><Relationship Type="http://schemas.openxmlformats.org/officeDocument/2006/relationships/slide" Target="/ppt/slides/slide1.xml" Id="Ra2d744c718004a96" /><Relationship Type="http://schemas.openxmlformats.org/officeDocument/2006/relationships/slide" Target="/ppt/slides/slide2.xml" Id="Raca35bd9bf0d44c0" /><Relationship Type="http://schemas.openxmlformats.org/officeDocument/2006/relationships/slide" Target="/ppt/slides/slide3.xml" Id="Rcd2840130ce74e2a" /><Relationship Type="http://schemas.openxmlformats.org/officeDocument/2006/relationships/slide" Target="/ppt/slides/slide4.xml" Id="Rb27723fb0b8b4617" /><Relationship Type="http://schemas.openxmlformats.org/officeDocument/2006/relationships/slide" Target="/ppt/slides/slide5.xml" Id="Rcc7d08a9fcad44e0" /><Relationship Type="http://schemas.openxmlformats.org/officeDocument/2006/relationships/slide" Target="/ppt/slides/slide6.xml" Id="Rc13c234a0cdd46e6" /><Relationship Type="http://schemas.openxmlformats.org/officeDocument/2006/relationships/slide" Target="/ppt/slides/slide7.xml" Id="R68cc46b25da24220" /><Relationship Type="http://schemas.openxmlformats.org/officeDocument/2006/relationships/slide" Target="/ppt/slides/slide8.xml" Id="R62302967e1184b62" /><Relationship Type="http://schemas.openxmlformats.org/officeDocument/2006/relationships/slide" Target="/ppt/slides/slide9.xml" Id="Rb710ac62068b4935" /><Relationship Type="http://schemas.openxmlformats.org/officeDocument/2006/relationships/slide" Target="/ppt/slides/slide10.xml" Id="R42d15132e7954589" /><Relationship Type="http://schemas.openxmlformats.org/officeDocument/2006/relationships/slide" Target="/ppt/slides/slide11.xml" Id="R47fa210bad4146a2" /><Relationship Type="http://schemas.openxmlformats.org/officeDocument/2006/relationships/slide" Target="/ppt/slides/slide12.xml" Id="R684efecf6b384d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2929d6bdce45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0d220a61014a4f" /><Relationship Type="http://schemas.openxmlformats.org/officeDocument/2006/relationships/notesMaster" Target="/ppt/notesMasters/notesMaster1.xml" Id="R06ca54288c0745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6df3968252478a" /><Relationship Type="http://schemas.openxmlformats.org/officeDocument/2006/relationships/notesMaster" Target="/ppt/notesMasters/notesMaster1.xml" Id="R4f1d18606bd949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257d6649474c4d" /><Relationship Type="http://schemas.openxmlformats.org/officeDocument/2006/relationships/notesMaster" Target="/ppt/notesMasters/notesMaster1.xml" Id="Rad2ef62dee39494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22d5ffa8cf245f6" /><Relationship Type="http://schemas.openxmlformats.org/officeDocument/2006/relationships/notesMaster" Target="/ppt/notesMasters/notesMaster1.xml" Id="R253acce6aa5544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ee1e60006548da" /><Relationship Type="http://schemas.openxmlformats.org/officeDocument/2006/relationships/notesMaster" Target="/ppt/notesMasters/notesMaster1.xml" Id="R257a2c3cff73412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a3952d87cc4097" /><Relationship Type="http://schemas.openxmlformats.org/officeDocument/2006/relationships/notesMaster" Target="/ppt/notesMasters/notesMaster1.xml" Id="R0a6efdd7fc844f4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fc4f2739874612" /><Relationship Type="http://schemas.openxmlformats.org/officeDocument/2006/relationships/notesMaster" Target="/ppt/notesMasters/notesMaster1.xml" Id="R59134df13b5947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dac410c292e4dc3" /><Relationship Type="http://schemas.openxmlformats.org/officeDocument/2006/relationships/notesMaster" Target="/ppt/notesMasters/notesMaster1.xml" Id="R045987c290664d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dec783911bd4d7d" /><Relationship Type="http://schemas.openxmlformats.org/officeDocument/2006/relationships/notesMaster" Target="/ppt/notesMasters/notesMaster1.xml" Id="R7dc1e95bfb5c4c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606d25b2a44a0c" /><Relationship Type="http://schemas.openxmlformats.org/officeDocument/2006/relationships/notesMaster" Target="/ppt/notesMasters/notesMaster1.xml" Id="Rfc92350924bd469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08b24fc51724d57" /><Relationship Type="http://schemas.openxmlformats.org/officeDocument/2006/relationships/notesMaster" Target="/ppt/notesMasters/notesMaster1.xml" Id="R1456d22cb73b41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14bbffd87b94aed" /><Relationship Type="http://schemas.openxmlformats.org/officeDocument/2006/relationships/notesMaster" Target="/ppt/notesMasters/notesMaster1.xml" Id="R1541ca01a177487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封面。项目定位为面向网站目标接入的恶意流量识别系统，覆盖实时观测、机器学习识别、告警处置和态势大屏。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项目定位页。强调系统已从静态数据展示重构为可登记监测对象、实时模拟/观测、模型识别和处置闭环的平台。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架构页。分层说明数据层、模型层、服务层和展示层，以及从数据到前端展示的运行闭环。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特征工程页。说明检测依据来自流量观测字段和衍生统计，而不是前端伪造结果。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模型能力页。展示样本规模、特征数、双模型、当前样本测试指标和随机森林特征重要性，并明确指标局限。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目标监测页。说明前端新增 localhost 端口后会创建独立目标，并通过 target_id 过滤统计与事件，因此新对象从零开始。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在线识别链路页。解释后端如何从观测事件生成特征、调用模型、映射风险、写库并联动告警/黑名单。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大屏页。说明根路径优先展示安全态势大屏，并集中呈现目标、统计、分布、最新事件、模拟攻击和后台入口。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控制台能力页。用功能矩阵覆盖所有前端 console 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告警与黑名单页。展示从非正常预测到告警、命中计数和自动黑名单的规则，同时说明人工 CRUD 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模拟攻击页。展示四类可控场景和验证路径，说明脚本用于受控验证而非真实攻击公网目标。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收尾页。说明当前部署基础和后续生产化路线，最后总结项目闭环能力。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57ba9bb2f4f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d2bcef1f394870" /><Relationship Type="http://schemas.openxmlformats.org/officeDocument/2006/relationships/slideLayout" Target="/ppt/slideLayouts/slideLayout1.xml" Id="Rdbaedb34a0d94d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aedb34a0d94d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7040b461b42b6" /><Relationship Type="http://schemas.openxmlformats.org/officeDocument/2006/relationships/notesSlide" Target="/ppt/notesSlides/notesSlide1.xml" Id="R06d26dbcd78445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538095a02421d" /><Relationship Type="http://schemas.openxmlformats.org/officeDocument/2006/relationships/notesSlide" Target="/ppt/notesSlides/notesSlide2.xml" Id="Rd2d6385a1d1d4a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c2c7aa4fb4007" /><Relationship Type="http://schemas.openxmlformats.org/officeDocument/2006/relationships/notesSlide" Target="/ppt/notesSlides/notesSlide3.xml" Id="R80c47289abb648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f0a23c59c46c5" /><Relationship Type="http://schemas.openxmlformats.org/officeDocument/2006/relationships/notesSlide" Target="/ppt/notesSlides/notesSlide4.xml" Id="R5672f3470bfc45c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aedab0e224c75" /><Relationship Type="http://schemas.openxmlformats.org/officeDocument/2006/relationships/chart" Target="/ppt/slides/charts/chart1.xml" Id="R6882935270274831" /><Relationship Type="http://schemas.openxmlformats.org/officeDocument/2006/relationships/notesSlide" Target="/ppt/notesSlides/notesSlide5.xml" Id="Rc490bf912f9147b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a7ce0636e4e75" /><Relationship Type="http://schemas.openxmlformats.org/officeDocument/2006/relationships/notesSlide" Target="/ppt/notesSlides/notesSlide6.xml" Id="R1206599771024e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feafafff34f75" /><Relationship Type="http://schemas.openxmlformats.org/officeDocument/2006/relationships/notesSlide" Target="/ppt/notesSlides/notesSlide7.xml" Id="R5c796f07fb8d44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13aedc4464c8a" /><Relationship Type="http://schemas.openxmlformats.org/officeDocument/2006/relationships/notesSlide" Target="/ppt/notesSlides/notesSlide8.xml" Id="Rcb0cefbef4014a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cf94b363e4ee6" /><Relationship Type="http://schemas.openxmlformats.org/officeDocument/2006/relationships/notesSlide" Target="/ppt/notesSlides/notesSlide9.xml" Id="R22d761ad2fcb4fb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1b1200f2a4d6e" /><Relationship Type="http://schemas.openxmlformats.org/officeDocument/2006/relationships/notesSlide" Target="/ppt/notesSlides/notesSlide10.xml" Id="R2f22cde116894b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b5109e1874fac" /><Relationship Type="http://schemas.openxmlformats.org/officeDocument/2006/relationships/notesSlide" Target="/ppt/notesSlides/notesSlide11.xml" Id="R83c0d88c764f45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07991ebbe43ef" /><Relationship Type="http://schemas.openxmlformats.org/officeDocument/2006/relationships/notesSlide" Target="/ppt/notesSlides/notesSlide12.xml" Id="R4b3dee920efe46f0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importance</c:v>
          </c:tx>
          <c:spPr>
            <a:solidFill xmlns:a="http://schemas.openxmlformats.org/drawingml/2006/main">
              <a:srgbClr val="21D4F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flow_duration</c:v>
              </c:pt>
              <c:pt idx="1">
                <c:v>throughput</c:v>
              </c:pt>
              <c:pt idx="2">
                <c:v>packets/sec</c:v>
              </c:pt>
              <c:pt idx="3">
                <c:v>bytes/packet</c:v>
              </c:pt>
              <c:pt idx="4">
                <c:v>bytes/sec</c:v>
              </c:pt>
              <c:pt idx="5">
                <c:v>dst_port</c:v>
              </c:pt>
            </c:strLit>
          </c:cat>
          <c:val>
            <c:numLit>
              <c:formatCode>General</c:formatCode>
              <c:ptCount val="6"/>
              <c:pt idx="0">
                <c:v>0.089</c:v>
              </c:pt>
              <c:pt idx="1">
                <c:v>0.083</c:v>
              </c:pt>
              <c:pt idx="2">
                <c:v>0.083</c:v>
              </c:pt>
              <c:pt idx="3">
                <c:v>0.081</c:v>
              </c:pt>
              <c:pt idx="4">
                <c:v>0.079</c:v>
              </c:pt>
              <c:pt idx="5">
                <c:v>0.079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F8FAF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264563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B6C7DB"/>
                </a:solidFill>
              </a:defRPr>
            </a:pPr>
          </a:p>
        </c:txPr>
        <c:crossAx val="48650112"/>
        <c:crosses val="autoZero"/>
        <c:crossBetween val="between"/>
      </c:valAx>
      <c:spPr>
        <a:solidFill xmlns:a="http://schemas.openxmlformats.org/drawingml/2006/main">
          <a:srgbClr val="0F2036">
            <a:alpha val="0"/>
          </a:srgbClr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F2036">
        <a:alpha val="0"/>
      </a:srgbClr>
    </a:solidFill>
  </c:spPr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6101D"/>
            </a:gs>
            <a:gs pos="52000">
              <a:srgbClr val="071A2B"/>
            </a:gs>
            <a:gs pos="100000">
              <a:srgbClr val="0B1628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51A0E-9D2C-40FD-91C7-036A3750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BFE83-F0F0-44A8-ADEE-6A8A9E29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309C5-F649-4798-A8B0-9A26BD89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63F83-13CE-432D-932C-1C5CCF15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F1DC3-3C34-4B15-9C2D-7A9388C8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F19BE-AB36-4B89-B8CE-EDE4679C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474F1D-172B-41D7-9B10-8636E5E9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13EC5-7322-4F56-BC17-4382C726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9EAC84-806B-4E85-9BFF-AC06A18A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FA9EF-F059-4618-8146-FC85FCB4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C6784-2735-4FE3-909D-472403BA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C249CA-C1A8-4DFA-99D8-D99D57B41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9FA4EC-2888-44EF-B641-BFFF996B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DFAAB4-2826-4CFA-8C07-B87893E5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D9DF29-D107-4A05-81A7-4E9B3ABD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88089-D46C-4E85-8C57-7C390558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FEAA0-8D36-4DCC-A328-AA7450098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B80B33-1602-487B-8F2F-E0F65682B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3813C-F076-4D2C-8F38-04E6FCA5D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6508D7-5BFC-462D-B5EE-5D719E9A6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E51994-33F0-4131-83C6-0E749791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76AF7-F35D-46B6-941D-4DFDCAC1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A67BC4-B9CF-420C-BF7D-6E4C9EE3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79E763-6CDD-4A8D-BA0B-BE01C048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6EFA82-68BC-49FA-89C0-7896D05A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4D4231-F0D6-4066-94FE-02BCCC5A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064887-4513-4729-AFBF-EE6DFDAC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0E0E12-1354-4ABD-8E2C-E8BE70F0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>
                  <a:alpha val="0"/>
                </a:srgbClr>
              </a:gs>
              <a:gs pos="52000">
                <a:srgbClr val="21D4FD">
                  <a:alpha val="7000"/>
                </a:srgbClr>
              </a:gs>
              <a:gs pos="100000">
                <a:srgbClr val="07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309C41C-29F3-4997-8A4D-5FDD4FDF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39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>
              <a:alpha val="5000"/>
            </a:srgbClr>
          </a:solidFill>
          <a:ln xmlns:a="http://schemas.openxmlformats.org/drawingml/2006/main" w="9525">
            <a:solidFill>
              <a:srgbClr val="21D4FD">
                <a:alpha val="2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711848-B694-49A8-A5F6-EA3FF40E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704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恶意流量识别系统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9B5AD7-E192-480B-A7EC-E74D6B6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7239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基于机器学习的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3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恶意流量识别系统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9F9823-0A7F-478C-912D-1BDA0EBB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7124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72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从网站目标接入、流量特征提取到告警处置的端到端安全识别平台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64B8E7-6F90-4E59-84AC-2648D5B1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AE8C0E5-1792-427B-ADE0-78D5B74F4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433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网站目标接入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D09895-7E47-4FB4-8731-82A07188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957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F9B5D5A-0070-46E7-8A6E-B94C2864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1433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实时流量观测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1C7AD9-C13B-4A26-82AE-6C68875F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095750"/>
            <a:ext cx="13525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6F229F-3618-4AB7-923F-1E381C9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43375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ML 分类识别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C1F201-2037-48BC-BDC2-D377EC84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957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07F462-E776-440B-8E2A-E106B038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433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告警与黑名单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E4A187-192D-4756-8B65-5F1DBF7B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95750"/>
            <a:ext cx="12001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D2E708-16EA-47FA-AB6E-0A260E4E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433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科技态势大屏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F88492-78AB-41AC-A5F1-F5738286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6F86A3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6F86A3"/>
                </a:solidFill>
                <a:latin typeface="PingFang SC"/>
                <a:ea typeface="PingFang SC"/>
                <a:cs typeface="PingFang SC"/>
              </a:rPr>
              <a:t>核心识别类别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4A9F894-05ED-4936-AEDE-F692CC95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676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A">
              <a:alpha val="72000"/>
            </a:srgbClr>
          </a:solidFill>
          <a:ln xmlns:a="http://schemas.openxmlformats.org/drawingml/2006/main" w="9525">
            <a:solidFill>
              <a:srgbClr val="40E0A0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934132-EAC5-457E-84E1-6D46505C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benign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80DFD72-4FAC-4C9A-BB71-77557941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正常流量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BE5046-6070-438E-B3AB-AFDE221D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91150"/>
            <a:ext cx="1676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A">
              <a:alpha val="72000"/>
            </a:srgbClr>
          </a:solidFill>
          <a:ln xmlns:a="http://schemas.openxmlformats.org/drawingml/2006/main" w="9525">
            <a:solidFill>
              <a:srgbClr val="4F8CFF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0BE261-BD08-4043-8BB2-AECF588F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768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arp_spoof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51DAA3-2057-423B-86DD-0F1C5504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150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ARP 欺骗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ABB3C77-BEAC-43D9-90B7-BD732D544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91150"/>
            <a:ext cx="1676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A">
              <a:alpha val="72000"/>
            </a:srgbClr>
          </a:solidFill>
          <a:ln xmlns:a="http://schemas.openxmlformats.org/drawingml/2006/main" w="9525">
            <a:solidFill>
              <a:srgbClr val="FF4D6D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72292B-7BBF-4B45-9530-6A1E6162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4768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F4D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D6D"/>
                </a:solidFill>
                <a:latin typeface="Arial"/>
                <a:ea typeface="Arial"/>
                <a:cs typeface="Arial"/>
              </a:rPr>
              <a:t>ddos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D2FA70-3E08-49AD-9A08-7168474F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7150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DDoS / 洪泛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CAD560E-101F-41CB-A9C4-33CF40C3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91150"/>
            <a:ext cx="16764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0233A">
              <a:alpha val="72000"/>
            </a:srgbClr>
          </a:solidFill>
          <a:ln xmlns:a="http://schemas.openxmlformats.org/drawingml/2006/main" w="9525">
            <a:solidFill>
              <a:srgbClr val="FBBF24">
                <a:alpha val="8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CF9B0CA-F8D8-448D-B9FF-F7954510F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76875"/>
            <a:ext cx="1371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trojan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81A5580-672E-4287-B922-1DE416DF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150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木马通信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6A15B1-076E-4604-9F33-B8A5C9EE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62200"/>
            <a:ext cx="1752600" cy="1752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>
              <a:alpha val="8000"/>
            </a:srgbClr>
          </a:solidFill>
          <a:ln xmlns:a="http://schemas.openxmlformats.org/drawingml/2006/main" w="19050">
            <a:solidFill>
              <a:srgbClr val="21D4FD">
                <a:alpha val="7000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1027D7F-8889-433C-9028-52DFC06C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8003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33A">
              <a:alpha val="86000"/>
            </a:srgbClr>
          </a:solidFill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951ACA6-C40D-4274-9888-CDFB8FA5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5275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ML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CORE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7788B6-8BD7-4026-B8E7-3B1EE200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335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E0A0">
              <a:alpha val="12000"/>
            </a:srgbClr>
          </a:solidFill>
          <a:ln xmlns:a="http://schemas.openxmlformats.org/drawingml/2006/main" w="14288">
            <a:solidFill>
              <a:srgbClr val="40E0A0">
                <a:alpha val="8500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87422E-B053-41B9-9458-7AC9B46E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66925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6330358-5F35-49CC-8FCC-A67292CA9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190750"/>
            <a:ext cx="1257300" cy="1047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40E0A0">
                <a:alpha val="5500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9E557E-6FC7-4AD8-B23F-8F5DF6B6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6764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>
              <a:alpha val="12000"/>
            </a:srgbClr>
          </a:solidFill>
          <a:ln xmlns:a="http://schemas.openxmlformats.org/drawingml/2006/main" w="14288">
            <a:solidFill>
              <a:srgbClr val="21D4FD">
                <a:alpha val="8500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434D11F-BA94-4E22-BC21-999C64DE9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09775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21D4F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1D4FD"/>
                </a:solidFill>
                <a:latin typeface="Arial"/>
                <a:ea typeface="Arial"/>
                <a:cs typeface="Arial"/>
              </a:rPr>
              <a:t>API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70114CB-23D8-45BD-B418-252F7E13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133600"/>
            <a:ext cx="-1266825" cy="1104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1D4FD">
                <a:alpha val="55000"/>
              </a:srgbClr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F251BA2-18B7-4AB4-9633-075491E7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3815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>
              <a:alpha val="12000"/>
            </a:srgbClr>
          </a:solidFill>
          <a:ln xmlns:a="http://schemas.openxmlformats.org/drawingml/2006/main" w="14288">
            <a:solidFill>
              <a:srgbClr val="4F8CFF">
                <a:alpha val="8500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5FE48E3-38B1-4519-84B7-D33229886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714875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Screen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99AF6B-9BC4-4043-ABD5-EA74F4FA6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38700"/>
            <a:ext cx="-1571625" cy="-1600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4F8CFF">
                <a:alpha val="5500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68506C0-7494-47BD-BE72-C050317D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148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>
              <a:alpha val="12000"/>
            </a:srgbClr>
          </a:solidFill>
          <a:ln xmlns:a="http://schemas.openxmlformats.org/drawingml/2006/main" w="14288">
            <a:solidFill>
              <a:srgbClr val="FF4D6D">
                <a:alpha val="85000"/>
              </a:srgbClr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40E6052-459D-4E28-A864-71B09B88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848225"/>
            <a:ext cx="723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FF4D6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4D6D"/>
                </a:solidFill>
                <a:latin typeface="Arial"/>
                <a:ea typeface="Arial"/>
                <a:cs typeface="Arial"/>
              </a:rPr>
              <a:t>响应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87A62C4-EB28-4654-9EC6-D530A5D8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972050"/>
            <a:ext cx="1447800" cy="-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F4D6D">
                <a:alpha val="55000"/>
              </a:srgbClr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8B4FD1E-ED1E-4CDB-B67E-AE507B8E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25" b="1">
                <a:solidFill>
                  <a:srgbClr val="6F86A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F86A3"/>
                </a:solidFill>
                <a:latin typeface="Arial"/>
                <a:ea typeface="Arial"/>
                <a:cs typeface="Arial"/>
              </a:rPr>
              <a:t>PROJECT INTRODUCTION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37C714C-CAA3-42DB-A530-EB0B9F82C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4389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25" b="0">
                <a:solidFill>
                  <a:srgbClr val="6F86A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86A3"/>
                </a:solidFill>
                <a:latin typeface="Arial"/>
                <a:ea typeface="Arial"/>
                <a:cs typeface="Arial"/>
              </a:rPr>
              <a:t>2026.06</a:t>
            </a:r>
          </a:p>
        </p:txBody>
      </p:sp>
    </p:spTree>
    <p:extLst>
      <p:ext uri="{BB962C8B-B14F-4D97-AF65-F5344CB8AC3E}">
        <p14:creationId xmlns:p14="http://schemas.microsoft.com/office/powerpoint/2010/main" val="1022062773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58000">
              <a:srgbClr val="0B1628"/>
            </a:gs>
            <a:gs pos="100000">
              <a:srgbClr val="06101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0D2CD8-9C34-47FA-BC18-0DA3C2C2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83ADBE-8B40-452D-877E-5A23B1B3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FE67B-294E-44A6-A6F1-BA23BB81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EDF01D-4877-4FF9-B1C8-1ED2578EA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F0ECBD-AC9E-42C4-A51D-65DF7428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12CC8A-4074-4034-BFAE-4F24E8A9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CA8A9-6BAA-4F87-B39A-0105FB5F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891BA-06EB-402C-89AE-C7691C450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F0BC1-10CB-4559-84CD-AF5FE02F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30ED6-EC65-4AE6-8BE9-7FC24A50B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CF61B4-609C-416A-8242-B4F9DC55D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FC22D-EF95-4CAC-8A4E-495CBB49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D461E-2C67-477F-B9BE-9319F679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2CC3C-1C65-41FA-A965-AF62B784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FB452F-4F72-49CA-907D-BA3932E4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DD333-2C3C-4E15-B1C9-4F0E7F12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9C2130-C8AE-4E68-B996-DC0ABC42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48328-391C-48C0-8FD7-2AAC148A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2DD8D0-608D-4BFE-BB4F-0D937F18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3960A4-D0C7-4DE3-B442-E12A28EE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8C727-94A8-4E18-A7E9-056CC754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5EF39F-4CE5-4157-AE98-B3A5951E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27DA72-34CA-4825-B4B1-49F5B9A9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D04A2A-4AFE-4E97-A8C1-10D8F20A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2A7228-F595-49CF-9878-D2BC2DBE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20A79F-D9EE-4D64-AC4E-6A9A80F9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5564A7-2162-49D3-9D4F-5613057A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14DAC3-71FC-4898-9DCD-7156E457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>
                  <a:alpha val="0"/>
                </a:srgbClr>
              </a:gs>
              <a:gs pos="52000">
                <a:srgbClr val="21D4FD">
                  <a:alpha val="7000"/>
                </a:srgbClr>
              </a:gs>
              <a:gs pos="100000">
                <a:srgbClr val="07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B49449-FD0C-44DA-A4D4-C85AE5C7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39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>
              <a:alpha val="5000"/>
            </a:srgbClr>
          </a:solidFill>
          <a:ln xmlns:a="http://schemas.openxmlformats.org/drawingml/2006/main" w="9525">
            <a:solidFill>
              <a:srgbClr val="21D4FD">
                <a:alpha val="2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8CEDCC-E8DC-40BC-A15D-883C85A6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01 / POSITIONING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4EB65-CAC1-4B39-9F96-04EC6BF9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项目定位：面向网站接入的恶意流量识别工具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D0952D-EF34-49DF-BBA6-8741921B2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0FEE0D-D1B0-4683-8958-A9A1FD4D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ML TRAFFIC SECURITY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2E7997-FD7A-42A9-B712-752A389C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63">
                <a:alpha val="8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F0A6E2-BE24-4DBB-BE1F-229F98A6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rPr>
              <a:t>来源：README、frontend/src/pages/SecurityScreenPage.tsx、backend/app/services/monitor_service.py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8CD606-8560-44D7-AD17-268EC132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6C7DB"/>
                </a:solidFill>
                <a:latin typeface="Arial"/>
                <a:ea typeface="Arial"/>
                <a:cs typeface="Arial"/>
              </a:rPr>
              <a:t>02 / 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88EFEE-D712-4DB4-BE5E-05B36E70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19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8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系统要解决的不是“展示已有攻击样例”，而是把一个网站、域名、IP 或 localhost 端口登记为识别对象，围绕该对象持续生成可解释的安全态势。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1043DF-B45B-473C-B4F6-A8340963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33528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11430">
            <a:solidFill>
              <a:srgbClr val="21D4FD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A72C30-04F8-4D7C-9ED8-3FDC6118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6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/>
          </a:solidFill>
          <a:ln xmlns:a="http://schemas.openxmlformats.org/drawingml/2006/main" w="0">
            <a:solidFill>
              <a:srgbClr val="21D4F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BEC769-8CF2-40A7-B504-1114F3D3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目标接入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51E6A2-FC04-4C14-B670-AC235833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输入域名 / IP / localhost 端口，生成可选择的监测对象。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3E97E0-20D7-4E15-BADF-19BC918AF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33528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11430">
            <a:solidFill>
              <a:srgbClr val="40E0A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214D0C-0835-4DCF-901A-7DFB8008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38350"/>
            <a:ext cx="76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E0A0"/>
          </a:solidFill>
          <a:ln xmlns:a="http://schemas.openxmlformats.org/drawingml/2006/main" w="0">
            <a:solidFill>
              <a:srgbClr val="40E0A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A5CEE1E-CC8C-4A61-A5F8-34E5B13E2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286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实时识别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AB006C-A599-4B2F-9E7F-ABCAAC17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2415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观测事件进入后端，转换为模型特征并输出类别、风险和置信度。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8D42221-C3F3-402F-89DC-0E423893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3352800" cy="15430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11430">
            <a:solidFill>
              <a:srgbClr val="FF4D6D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D6871D5-92FB-4A14-A8E7-6F02D275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38350"/>
            <a:ext cx="762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19AAC0-5C12-4E46-9ECE-9FCBE1DE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F4D6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4D6D"/>
                </a:solidFill>
                <a:latin typeface="PingFang SC"/>
                <a:ea typeface="PingFang SC"/>
                <a:cs typeface="PingFang SC"/>
              </a:rPr>
              <a:t>持续处置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36A022-BDCC-454D-BF8F-5D255803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2819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非正常流量形成告警，多次命中后进入自动黑名单。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16A7F8E-5AC2-4FDD-B33A-CA65F51F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72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识别对象与输出结果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093242-1353-453F-9EE8-5E6F067F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10648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64563">
                <a:alpha val="9000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F478203-ADCA-429C-8EE1-2A9FB708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21D4FD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51B94D-9322-4CDB-807D-60957F1C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>
              <a:alpha val="18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DB18ADA-0F74-4204-9299-6AEEDC4C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1D4F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D4F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9CFF77-94CC-4514-847B-4878A237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863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目标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DDAAFB-F517-4E9B-B13B-DD7D7A6C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768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576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http://localhost:5174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example.com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10.0.0.8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DE2127-8F8D-450E-97EF-DA453AB0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72440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4F8CFF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E9D2EE0-0F97-4648-9F48-77777DEF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95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>
              <a:alpha val="18000"/>
            </a:srgbClr>
          </a:solidFill>
          <a:ln xmlns:a="http://schemas.openxmlformats.org/drawingml/2006/main" w="9525">
            <a:solidFill>
              <a:srgbClr val="4F8C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F27F2C-08B7-4619-9248-F8D9AAFA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9339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E53EB0-4017-42AE-A4B3-6948AE6E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8863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观测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DCAF9F-F580-4858-ADED-1C3CBFB1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2768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55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包长、端口、速率、持续时间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按 target_id 记录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B0D1130-8717-406B-B1BB-BCDA482DD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2440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40E0A0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87B0AE-DA4D-4199-AAA5-CEF63FC4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895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E0A0">
              <a:alpha val="18000"/>
            </a:srgbClr>
          </a:solidFill>
          <a:ln xmlns:a="http://schemas.openxmlformats.org/drawingml/2006/main" w="9525">
            <a:solidFill>
              <a:srgbClr val="40E0A0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FFD3C7F-2B01-4D4E-BB1E-20E20A2C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9339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5A8C6ED-321E-424C-8885-E4616B7B2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863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分类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0D47632-84DC-43CA-BAF8-53844CE2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52768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5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benign / arp_spoof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ddos / trojan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3E7EBD9-AB2A-4F83-A09E-DAB2AC1E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24400"/>
            <a:ext cx="21336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FF4D6D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C5AEE37-51F2-4CAC-ACC3-D6472E437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95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>
              <a:alpha val="18000"/>
            </a:srgbClr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9B9D8B7-F9F7-4540-B06A-4C2508D5E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9339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4D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4D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1FD053-2750-4341-A127-A4FCBFCB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86325"/>
            <a:ext cx="1409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处置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5928312-6F41-4981-8B6C-01057C5F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76850"/>
            <a:ext cx="175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5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告警、Top 来源、攻击分布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黑名单联动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940C6B-D07A-4AC0-8F8B-A79F9F9EF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2578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A413FDB-2AC5-4605-9F85-7B7EDD82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578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79925CF-9517-4A06-93AB-3AA3B20F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2578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730951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58000">
              <a:srgbClr val="0B1628"/>
            </a:gs>
            <a:gs pos="100000">
              <a:srgbClr val="06101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A36F7D-DC07-4D81-B31F-88E85BA0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1C5A2-7BBB-4A52-8FC9-90AE32E4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8C873-78A4-4C01-A648-F45E0A43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F9F90-9065-4A18-AE4C-E48E7CA63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5E5C94-1E8D-4590-A890-AF3C2672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F92C5-2B1C-4D74-8617-E1C755F3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3E70A-75E8-4957-BADB-2264C6C0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71D9F-3557-4746-9D95-13F9EF2ED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BF0F31-B088-43CE-9CD4-19F18BE7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1672A-5CF5-4FDE-82DA-9893288D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EB65A-972F-4C17-B24F-14685F95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B306B-409E-4022-A516-22689FC6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697A5-D3A9-427B-BDEB-CEF37654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DA4EEF-398A-4771-9A6B-4916D9B3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4A839-B5F3-45A7-B817-E403BA77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CCA5B5-6E11-43ED-991D-C3C6D1D8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EFA0D7-CC16-40A1-BEED-7C3EEF66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D43977-38DD-4E50-AE6C-18439056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4B9B07-A9B1-4D6E-B62D-B57B1D6F0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A38BF-69EB-4D2A-8441-2704D213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AAF35-2327-4EB9-8739-BE3CB23F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C84738-C992-4CFE-ABDC-5042FDCF2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AD014E-F6A8-4CA4-8826-39B7AED9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674D8-0C8F-4640-9F70-04B01C64D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E0D08-064A-4AF1-9424-3CBCD2CF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C1099-53C6-4D6C-B8CA-9C90062C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BCE78A-F570-4D13-8910-86B42819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349D9F-1939-4DC7-A1F5-C1AB59C9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>
                  <a:alpha val="0"/>
                </a:srgbClr>
              </a:gs>
              <a:gs pos="52000">
                <a:srgbClr val="21D4FD">
                  <a:alpha val="7000"/>
                </a:srgbClr>
              </a:gs>
              <a:gs pos="100000">
                <a:srgbClr val="07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375908-AF0F-4BA0-922E-479F177B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39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>
              <a:alpha val="5000"/>
            </a:srgbClr>
          </a:solidFill>
          <a:ln xmlns:a="http://schemas.openxmlformats.org/drawingml/2006/main" w="9525">
            <a:solidFill>
              <a:srgbClr val="21D4FD">
                <a:alpha val="2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7B44A4-4CBE-4B6C-BCD6-A080984E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02 / ARCHITECTURE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9E3EDB-8A93-43D7-88AE-A2B6D6A5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总体架构：数据、模型、服务、前端闭环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9A6EE3-8E35-47DA-97A3-B677528E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E4E88F-715E-4284-B102-DEAA1BF4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ML TRAFFIC SECURITY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31A013-D3C9-4DD3-8F3B-14440310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63">
                <a:alpha val="8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582817-2316-4437-AA18-45F7ADE87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rPr>
              <a:t>来源：docs/architecture/README.md、backend/app/api/routes、frontend/src/api/security.ts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11C17F-202E-403D-9C49-F022EB0C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6C7DB"/>
                </a:solidFill>
                <a:latin typeface="Arial"/>
                <a:ea typeface="Arial"/>
                <a:cs typeface="Arial"/>
              </a:rPr>
              <a:t>03 / 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4C21D83-9829-494E-A5C2-43E77899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71600"/>
            <a:ext cx="8267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11430">
            <a:solidFill>
              <a:srgbClr val="40E0A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6DD2E1-4CB4-4549-9CDA-68C7EDB1F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数据层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963738-1B03-496F-8D88-917C2622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049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raw / interim / processed / sample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59FFC5-7D4A-4577-804C-0CB58879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79070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5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原始数据、流级窗口、模型输入表、演示样本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EB4DEA-158B-4769-B281-4EAE2A51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1717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9BA5EA-DB84-4BB2-A832-34FC0376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8267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11430">
            <a:solidFill>
              <a:srgbClr val="21D4FD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D7FAF96-1358-4F60-9511-1E1D45AF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908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模型层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09858E-E7B7-4802-A2FD-56624251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5717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feature_pipeline.py / model_training.py / ml/models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0D8403-2B60-43CC-B5E1-4908A8BE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5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特征派生、决策树训练、随机森林训练、指标报告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0FF240-CF61-4655-84B8-B80D2774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385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4C4F6CE-6D60-444D-BB99-54F1FCB4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8267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11430">
            <a:solidFill>
              <a:srgbClr val="4F8C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6802CB4-2F49-4C5D-B497-3F9611E8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4F8C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4F8CFF"/>
                </a:solidFill>
                <a:latin typeface="PingFang SC"/>
                <a:ea typeface="PingFang SC"/>
                <a:cs typeface="PingFang SC"/>
              </a:rPr>
              <a:t>服务层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ED2FB78-1445-4143-90FC-4C575991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385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FastAPI / SQLite / Repository / Prediction Service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EA2FA9-C6AC-47D8-A78F-6ACD8EEDB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2430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5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统一 API、预测落库、告警生成、黑名单策略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A4D8F66-C385-43C8-BB81-763D2929B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053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4C1BC3-F31E-4980-B922-9F80C0D1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82677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11430">
            <a:solidFill>
              <a:srgbClr val="9B7B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A658D99-BB38-4A8B-826E-2E8EC0CD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244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9B7BFF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9B7BFF"/>
                </a:solidFill>
                <a:latin typeface="PingFang SC"/>
                <a:ea typeface="PingFang SC"/>
                <a:cs typeface="PingFang SC"/>
              </a:rPr>
              <a:t>展示层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6580B5F-20ED-4ED3-8C9E-0FB05B4A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7053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React + TypeScript + Vite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8EB5A92-2B43-428B-936F-01FC7C2E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991100"/>
            <a:ext cx="600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95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安全态势大屏、控制台、检测、回放、指标与设置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1FBB85-4AAD-40E7-B227-9C59DD8D2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371600"/>
            <a:ext cx="2057400" cy="4000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7111F">
              <a:alpha val="82000"/>
            </a:srgbClr>
          </a:solidFill>
          <a:ln xmlns:a="http://schemas.openxmlformats.org/drawingml/2006/main" w="12383">
            <a:solidFill>
              <a:srgbClr val="21D4FD">
                <a:alpha val="5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EE7F225-D307-4F23-B887-6BFDF846E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581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运行闭环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09209B5-D7FB-4195-82B9-ED642ED8C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193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1. 数据加载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3FA5A6-B50D-420A-B354-5D0327DB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574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2. 特征表构建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487D07-084D-4127-8DF7-FB4FDA34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956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3. 模型训练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3B69E7-91CD-41A0-88CC-9570E83A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3337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4. 模型与报告保存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1460691-7726-49BE-8F0A-1368E167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7719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5. API 在线推理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9D4399-29AF-43B0-99B3-D41E6768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2100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1238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6. 前端态势展示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4CEB963-7C0C-4A63-A315-64CE9401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9372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核心原则：训练流程、在线推理、展示交互解耦；通过 `/api/v1` 形成稳定前后端契约。</a:t>
            </a:r>
          </a:p>
        </p:txBody>
      </p:sp>
    </p:spTree>
    <p:extLst>
      <p:ext uri="{BB962C8B-B14F-4D97-AF65-F5344CB8AC3E}">
        <p14:creationId xmlns:p14="http://schemas.microsoft.com/office/powerpoint/2010/main" val="2088060169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58000">
              <a:srgbClr val="0B1628"/>
            </a:gs>
            <a:gs pos="100000">
              <a:srgbClr val="06101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FBA18A-ED08-4B2A-AD84-A61903D3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D8F8D0-9848-4F52-BE1E-A7BD99FF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3742B-EF00-46E3-B98A-E6EC86E6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A13FD5-74D6-4B1C-BF46-3CDF8266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FE355-BED5-4854-8D8C-F32E93E0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274941-E472-4A6F-A6ED-0D4C77FB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8CA9A-E696-4304-8C3A-C2F68076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E9F152-F9AA-460F-9782-FAF07F01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E1BEB-00A7-486D-96A4-1EC03E02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AF48ED-A31D-4E89-942D-F8CAF192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6DE4C7-3855-412E-BFBC-A9136591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B2468-1EEF-44DF-800E-9499FDF9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F5A989-5CB3-4F4C-B0DD-2C65B8D9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25771-E988-4BEA-A7E1-8F832382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2E894B-B4B3-4D91-B219-5A5DFC280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F5805-FE7A-4A02-8222-9006BA28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EE37EF-ED0A-439A-AB1E-750C17448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AC0B4E-4872-4CF5-9A48-B466B3B5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484EAE-7CEB-4EBF-9855-4E3E3DB7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414112-65FE-4606-A71C-73A8E070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35239C-0D86-406F-AF36-97DA6617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82E94-F486-4BA0-996F-63972416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464C4C-1BAC-47F7-B556-FA206EE7C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FC3B4-8F05-43A1-8833-B61282C5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688C19-4C8E-4482-BAA1-3513B16D6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35C260-CC7E-41B4-9BD6-D2331D85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21456E-2907-4923-9117-FEC3F360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043B2F-2D68-481B-BC96-20C9F921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>
                  <a:alpha val="0"/>
                </a:srgbClr>
              </a:gs>
              <a:gs pos="52000">
                <a:srgbClr val="21D4FD">
                  <a:alpha val="7000"/>
                </a:srgbClr>
              </a:gs>
              <a:gs pos="100000">
                <a:srgbClr val="07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93CE06-3FB4-4134-8AD3-62D803E8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39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>
              <a:alpha val="5000"/>
            </a:srgbClr>
          </a:solidFill>
          <a:ln xmlns:a="http://schemas.openxmlformats.org/drawingml/2006/main" w="9525">
            <a:solidFill>
              <a:srgbClr val="21D4FD">
                <a:alpha val="2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F1B78C-A53C-46BD-AC14-60E39004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03 / FEATURE PIPELINE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92161A-DC3E-4632-B24F-678C9404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数据与特征工程：从原始流量到模型输入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991357-5617-4078-B586-A0C9ABCC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483727-2775-47FD-9575-E1CBA943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ML TRAFFIC SECURITY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156CF0C-E8A3-4022-9740-4DA3F87C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63">
                <a:alpha val="8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4422E2-AD91-41EA-90D9-F3F968EB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rPr>
              <a:t>来源：backend/app/services/feature_pipeline.py、ml/reports/model_metrics.json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9FF1BA-3960-4D95-9171-773C72934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6C7DB"/>
                </a:solidFill>
                <a:latin typeface="Arial"/>
                <a:ea typeface="Arial"/>
                <a:cs typeface="Arial"/>
              </a:rPr>
              <a:t>04 / 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1B46D0-23A3-4E0D-8B9C-A0ECD0F6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866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40E0A0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EE7C3E-EF9F-4CEC-B3BF-5910F34F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954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原始/样本数据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EA7CFBF-1FE6-409C-B75A-AC0F5C09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流量记录、实验样本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910641-D2EE-4435-83B5-16202C46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0193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7CDA8C-DA13-4ED2-AE87-DBD49102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485900"/>
            <a:ext cx="1866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4F8CFF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ADD79F1-CC55-45BB-8E6D-A5B13EA0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954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1">
                <a:solidFill>
                  <a:srgbClr val="4F8CFF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4F8CFF"/>
                </a:solidFill>
                <a:latin typeface="PingFang SC"/>
                <a:ea typeface="PingFang SC"/>
                <a:cs typeface="PingFang SC"/>
              </a:rPr>
              <a:t>窗口化/清洗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F51680-D901-4C45-9C16-FF2CE19F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574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按流或窗口形成观测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CE88CF-0977-48B0-9B0A-67974152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73B648-4C64-48A0-A1C5-880D87E47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485900"/>
            <a:ext cx="1866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21D4FD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4EFB0E-F014-4995-A489-10849862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954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基础统计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FBD47B-9B60-492F-90E2-239AACD7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574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0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端口、包长、速率、持续时间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D8FF47-A228-46B2-96C6-E2FA8FB1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A05C61-609D-4F56-8338-F36E57A9F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85900"/>
            <a:ext cx="1866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FBBF24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BED7A9-728D-4BFC-8276-21E49918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954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1">
                <a:solidFill>
                  <a:srgbClr val="FBBF24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FBBF24"/>
                </a:solidFill>
                <a:latin typeface="PingFang SC"/>
                <a:ea typeface="PingFang SC"/>
                <a:cs typeface="PingFang SC"/>
              </a:rPr>
              <a:t>衍生特征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C1FF802-2324-44AB-8389-BE3E56C1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574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52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范围、比例、端口差、吞吐归一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93AFB8-1C2E-4141-85C3-DC5411A9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193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C69116-9AF4-4D23-95A9-3484413E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485900"/>
            <a:ext cx="18669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FF4D6D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192413-B139-42EE-9BF2-C1603534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954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1">
                <a:solidFill>
                  <a:srgbClr val="FF4D6D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FF4D6D"/>
                </a:solidFill>
                <a:latin typeface="PingFang SC"/>
                <a:ea typeface="PingFang SC"/>
                <a:cs typeface="PingFang SC"/>
              </a:rPr>
              <a:t>模型输入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CEE030-1EDB-4061-B3FF-A54D2A9A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574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15 个特征列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951336-0F95-4D5C-B4ED-F606CD51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335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2036">
              <a:alpha val="88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72F017-174A-442C-9CB2-57D0DA1B1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>
              <a:alpha val="16000"/>
            </a:srgbClr>
          </a:solidFill>
          <a:ln xmlns:a="http://schemas.openxmlformats.org/drawingml/2006/main" w="9525">
            <a:solidFill>
              <a:srgbClr val="4F8CF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01940F3-01C4-425C-AD9C-EAD87FCB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1">
                <a:solidFill>
                  <a:srgbClr val="4F8CFF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4F8CFF"/>
                </a:solidFill>
                <a:latin typeface="PingFang SC"/>
                <a:ea typeface="PingFang SC"/>
                <a:cs typeface="PingFang SC"/>
              </a:rPr>
              <a:t>端口维度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7FE82C-F48A-4AAD-9B08-60D06F39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00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src_port、dst_port、port_gap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系统端口标记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99F16C3-009A-4AC9-8245-FBF821F2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143250"/>
            <a:ext cx="335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2036">
              <a:alpha val="88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833D51E-CEA9-4ECF-845C-CB2C46DF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E0A0">
              <a:alpha val="16000"/>
            </a:srgbClr>
          </a:solidFill>
          <a:ln xmlns:a="http://schemas.openxmlformats.org/drawingml/2006/main" w="9525">
            <a:solidFill>
              <a:srgbClr val="40E0A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517DD2-EBEA-4E12-82EE-306758AA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314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包长统计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24497E-4B2C-4E63-9540-625C724C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00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packet_len_mean / max / min / std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packet_len_range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D2325D-29ED-42FC-B964-C60B23F5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43250"/>
            <a:ext cx="335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2036">
              <a:alpha val="88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1DBC7A-4A5E-4CB9-8379-702B8A9FA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>
              <a:alpha val="16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3A7DA7-ADD4-4864-823A-75D2E27C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314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速率维度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CB9D7D-F168-4240-B510-8A23C965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6004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packets_per_sec、bytes_per_sec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bytes_per_packet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890DEBA-9463-4BCE-883C-FBD406A0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335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2036">
              <a:alpha val="88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D463CC0-3A4C-4BA9-B4C9-E4908F37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>
              <a:alpha val="16000"/>
            </a:srgbClr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E06724A-3816-4294-8A46-DE07F98A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1">
                <a:solidFill>
                  <a:srgbClr val="FBBF24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FBBF24"/>
                </a:solidFill>
                <a:latin typeface="PingFang SC"/>
                <a:ea typeface="PingFang SC"/>
                <a:cs typeface="PingFang SC"/>
              </a:rPr>
              <a:t>时间维度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2CE1E35-859F-497A-911A-F2D735D5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flow_duration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throughput_per_duration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7FB2D0-8FC5-4327-A73D-CD62DAA6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05300"/>
            <a:ext cx="335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2036">
              <a:alpha val="88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3629A43-E46C-4732-B260-DEFFDFE2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514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>
              <a:alpha val="16000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266AD07-81DD-4A74-81DD-F6898E9F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476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1">
                <a:solidFill>
                  <a:srgbClr val="9B7BFF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9B7BFF"/>
                </a:solidFill>
                <a:latin typeface="PingFang SC"/>
                <a:ea typeface="PingFang SC"/>
                <a:cs typeface="PingFang SC"/>
              </a:rPr>
              <a:t>标签体系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ED94DFF-E818-4EC5-AD72-0412023C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62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benign、arp_spoof、ddos、trojan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四类监督学习标签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42C478D-0410-42F1-8086-F5E16ACA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05300"/>
            <a:ext cx="3352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F2036">
              <a:alpha val="88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C6F69F-E4C9-4846-83A5-9C89C527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148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>
              <a:alpha val="16000"/>
            </a:srgbClr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87DB8A2-AF09-4176-A23A-52D15A56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4767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88" b="1">
                <a:solidFill>
                  <a:srgbClr val="FF4D6D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FF4D6D"/>
                </a:solidFill>
                <a:latin typeface="PingFang SC"/>
                <a:ea typeface="PingFang SC"/>
                <a:cs typeface="PingFang SC"/>
              </a:rPr>
              <a:t>输出表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A3207C6-7BE5-4343-BB2D-0E3F6318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762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8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processed feature table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3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训练与推理使用同列顺序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27E9536-79F6-4311-BC0C-85530EDA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728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1D4FD">
              <a:alpha val="8000"/>
            </a:srgbClr>
          </a:solidFill>
          <a:ln xmlns:a="http://schemas.openxmlformats.org/drawingml/2006/main" w="9525">
            <a:solidFill>
              <a:srgbClr val="21D4FD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6DAF286-2349-4840-9460-1D485391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57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识别依据是观测字段与派生统计，再由模型输出分类和置信度；系统不会在前端凭空编造“恶意流量”。</a:t>
            </a:r>
          </a:p>
        </p:txBody>
      </p:sp>
    </p:spTree>
    <p:extLst>
      <p:ext uri="{BB962C8B-B14F-4D97-AF65-F5344CB8AC3E}">
        <p14:creationId xmlns:p14="http://schemas.microsoft.com/office/powerpoint/2010/main" val="864987414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58000">
              <a:srgbClr val="0B1628"/>
            </a:gs>
            <a:gs pos="100000">
              <a:srgbClr val="06101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6A4BE6-129F-4757-B40E-D95ADC39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F3341A-E85E-4CE0-9FCF-1FBEE71C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BAA172-FC09-41E6-8F53-CDA58E604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62E9E-9E4F-4B8C-A571-88F9E6BF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CDDAF-3288-446F-94C1-F26680A2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8A594-AC79-4822-841E-AFB9718F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49709-630A-4761-B696-505309A6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AA3C9-36A5-49F8-8555-7ECA94CA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403DE-C541-4516-9BE0-51B9925F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58692E-20A7-4B4E-B0E3-6AF05FE79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AADFC4-6522-449B-8F5C-B9915B9A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A9FB75-E093-46F6-8871-BAB1C198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231B2E-4454-4CBB-9F88-E0BFAA8B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0491DB-DB3F-4572-9AF4-2EF3B46B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51FF2A-5813-4627-8B5B-7A5222FB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5BAE5E-1DFA-46D0-995D-82B8FE5F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BA1A0-B36F-405D-8449-C728692D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D2E1BA-0417-4995-975B-35F5596F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C217C0-CBF1-40CE-8C61-3DF25F38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EFD800-9AED-4A03-A4B3-4F3F47710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AF5DE-FFDC-43BE-8716-C514EBC5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B6DF4E-654D-400F-A42D-14FF4592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CF51C-C3D4-45D5-A96F-A6E8A2D3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D01E51-9641-44DE-B24C-970E1F33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9B4491-D392-4AEF-9681-E7C7B204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DBD80C-7D18-41FE-8DBB-B2321FB1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A5579-24B9-4BE3-B4E4-FC4D2F98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1D20E1-844C-4F24-B94F-FB592D10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>
                  <a:alpha val="0"/>
                </a:srgbClr>
              </a:gs>
              <a:gs pos="52000">
                <a:srgbClr val="21D4FD">
                  <a:alpha val="7000"/>
                </a:srgbClr>
              </a:gs>
              <a:gs pos="100000">
                <a:srgbClr val="07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349E2-3F7B-4C54-952C-1B9E7E66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39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>
              <a:alpha val="5000"/>
            </a:srgbClr>
          </a:solidFill>
          <a:ln xmlns:a="http://schemas.openxmlformats.org/drawingml/2006/main" w="9525">
            <a:solidFill>
              <a:srgbClr val="21D4FD">
                <a:alpha val="2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A01300-217C-4544-8DC7-670E6F88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04 / MODEL EVALUATION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BE65AD-4F07-453A-90CC-11DFF950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模型能力：双模型训练与样本级评估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B9B56B-EFB2-476E-A09F-B1B7F380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569D0B-AF16-484A-809A-992F6CB9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ML TRAFFIC SECURITY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18EC5E-FFA4-4D07-8962-D28CB693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63">
                <a:alpha val="8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BA74A3-93B3-40B7-B72E-0D36D2C4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rPr>
              <a:t>来源：ml/reports/model_metrics.json、ml/reports/random_forest_feature_importance.csv、prediction_service.py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000868-6038-4CDB-BB07-E6C64501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6C7DB"/>
                </a:solidFill>
                <a:latin typeface="Arial"/>
                <a:ea typeface="Arial"/>
                <a:cs typeface="Arial"/>
              </a:rPr>
              <a:t>05 / 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802ADE2-72FA-4C01-B936-A313FA51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21D4FD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297E6E5-F33A-40C3-8C4D-E880FDB0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21D4FD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21D4FD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BA0DA8-5F0F-4082-A4A0-5650ECB3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02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样本行数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D7C374-3D52-4BC2-9432-27394BFFB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86690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6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当前仓库轻量样本集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C5E11A4-D6C1-41A4-B885-91247E2A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3525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40E0A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25BDC9-911B-4B85-98A3-2A65675C9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5240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F5D7A2-8B4F-4767-91D7-C838C52E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002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模型特征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8BC1FF7-5430-4FF6-BD36-407F5144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6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训练与推理保持同列顺序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442C88E-79AD-4B40-8EB6-F9097E2D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3525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4F8C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CBC372-64E8-4750-85B9-DA54F049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240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0086F5D-6CBE-4C4E-B743-8A5B8BCD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002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可选模型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782A549-3444-4A95-9839-4A12E209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6690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2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6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Decision Tree / Random Forest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1F8BA8D-2709-466E-A0B7-B69EB996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52550"/>
            <a:ext cx="23812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FBBF24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E7BE91-137A-4FD2-8019-3692D34E7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24000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4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440E63-A3D3-4316-BD57-7D472C2D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0020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样本 F1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E889BF-B905-43EB-9A8A-207B0BE4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66900"/>
            <a:ext cx="933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96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测试切分上的宏平均 F1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B1BDC7-5E4A-41F1-B77A-1DF2D0D0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530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0F2036">
              <a:alpha val="92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9A8032-A79F-4604-BD22-97273484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8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随机森林 Top 特征重要性</a:t>
            </a:r>
          </a:p>
        </p:txBody>
      </p:sp>
      <p:graphicFrame>
        <p:nvGraphicFramePr>
          <p:cNvPr id="158" name="Chart"/>
          <p:cNvGraphicFramePr/>
          <p:nvPr/>
        </p:nvGraphicFramePr>
        <p:xfrm>
          <a:off xmlns:a="http://schemas.openxmlformats.org/drawingml/2006/main" x="914400" y="3371850"/>
          <a:ext xmlns:a="http://schemas.openxmlformats.org/drawingml/2006/main" cx="4114800" cy="1600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882935270274831"/>
          </a:graphicData>
        </a:graphic>
      </p:graphicFrame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1F01462-B668-4A58-A5E5-4B53D80F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800350"/>
            <a:ext cx="26289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0F2036">
              <a:alpha val="92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99BD8F-0220-4ED5-B661-E5C4D12B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908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8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样本混淆矩阵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1603FB-7894-48EE-9695-E6FA7525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90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F86A3"/>
                </a:solidFill>
                <a:latin typeface="Arial"/>
                <a:ea typeface="Arial"/>
                <a:cs typeface="Arial"/>
              </a:rPr>
              <a:t>benign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9B5C399-73BD-4F28-BF2F-61FAD481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766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F86A3"/>
                </a:solidFill>
                <a:latin typeface="Arial"/>
                <a:ea typeface="Arial"/>
                <a:cs typeface="Arial"/>
              </a:rPr>
              <a:t>benign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FE53071-A5BA-477A-9CF1-4D4E7E88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90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F86A3"/>
                </a:solidFill>
                <a:latin typeface="Arial"/>
                <a:ea typeface="Arial"/>
                <a:cs typeface="Arial"/>
              </a:rPr>
              <a:t>arp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8C393C0-7C6F-472E-98A4-819AF452E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386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F86A3"/>
                </a:solidFill>
                <a:latin typeface="Arial"/>
                <a:ea typeface="Arial"/>
                <a:cs typeface="Arial"/>
              </a:rPr>
              <a:t>arp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9C3EEE-6021-4714-9669-2DECDD3B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90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F86A3"/>
                </a:solidFill>
                <a:latin typeface="Arial"/>
                <a:ea typeface="Arial"/>
                <a:cs typeface="Arial"/>
              </a:rPr>
              <a:t>ddos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A5DB03-FE08-420C-AFF8-F3319EE3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4005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F86A3"/>
                </a:solidFill>
                <a:latin typeface="Arial"/>
                <a:ea typeface="Arial"/>
                <a:cs typeface="Arial"/>
              </a:rPr>
              <a:t>ddos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BE39CC-FD65-4D92-9D0D-C25718E7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90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F86A3"/>
                </a:solidFill>
                <a:latin typeface="Arial"/>
                <a:ea typeface="Arial"/>
                <a:cs typeface="Arial"/>
              </a:rPr>
              <a:t>trojan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0D14D55-0152-44BC-9E68-09B4E7A7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7625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6F86A3"/>
                </a:solidFill>
                <a:latin typeface="Arial"/>
                <a:ea typeface="Arial"/>
                <a:cs typeface="Arial"/>
              </a:rPr>
              <a:t>trojan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38E2CF2-CC51-4C71-A2A8-8513D7B6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385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E0A0">
              <a:alpha val="28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6068F0-E3FB-44D4-BC65-2BB4180E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95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6737F0-63F0-4D35-A464-8C32C861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385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6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955BEB-1D5D-43AB-96EE-09E4510D2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95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E3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E3A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DCD7FB1-96D8-40F2-8E3B-3E82EC0C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385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6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7237A14-1F53-46C9-AA23-99CBE20C0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95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E3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E3A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EB2BD40-3296-4167-BFD9-BF11AAFF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385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6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B2FCA0C-5AF4-453B-B054-D749EBDD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E3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E3A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0E96D7B-9A22-4C71-962F-A42B9F36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005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6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4DAF26A-1184-49FE-BC47-A1BEF0EA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576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E3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E3A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2CB8A50-EDC8-4907-B8FE-963790FD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005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E0A0">
              <a:alpha val="28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2B1A76B-BA7B-4516-A982-DCCF7ACD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576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F4C5FAD-3EEF-47AD-99BD-320BDBFF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005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6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F3B61F1-13FF-456F-8039-03DAF5E3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0576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E3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E3A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EA7C6E4-A0D0-40C4-9203-8A1C683A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6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4B6253E-0E2B-4C9C-9F47-2D98E116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576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E3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E3A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41CF6E3-F8E8-4548-8A55-2A1CB0C3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624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6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21CE515-2681-4BCB-AF29-71FC1A68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9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E3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E3A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1A987B0-0EBA-4143-A4B4-779E13E9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624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6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B4FE190-2A43-4B45-9DB1-241BFBBE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419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E3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E3A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78C33A3-3C49-466C-BD75-C2C147AE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624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E0A0">
              <a:alpha val="28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74DB142-E950-42A6-B199-45348EC0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19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6C261E-AFCF-49D0-A7EF-AFEC6CC3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6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C122B53-37D9-4045-898B-928CA481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196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E3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E3A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C041D56-0E6E-4AE3-93C9-C6422AB4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244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6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375C9E1-F980-4E4A-B58E-EC46F72AE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E3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E3A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91D7289-C3FC-467D-B315-ABB73855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244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6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AF9AC4D-C0B2-462D-9EBB-4ED3A6E2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E3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E3A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A810370-43CF-479C-9C22-D8AA26C3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244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6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37FDD8F-9791-405F-AFE3-EF7651F8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81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1E3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E3A5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9AE78C3-4938-4BEC-9E4E-386B264F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244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E0A0">
              <a:alpha val="28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AC089A-F63F-4A60-9AA3-2A27447A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8155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5A57D42-1BF2-4489-9D63-DB8E7DC6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16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四类标签在测试切分中各 2 条命中。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157B89F-B51B-46C6-867E-D95CDB23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800350"/>
            <a:ext cx="2590800" cy="2495550"/>
          </a:xfrm>
          <a:prstGeom xmlns:a="http://schemas.openxmlformats.org/drawingml/2006/main" prst="roundRect">
            <a:avLst>
              <a:gd name="adj" fmla="val 4580"/>
            </a:avLst>
          </a:prstGeom>
          <a:solidFill xmlns:a="http://schemas.openxmlformats.org/drawingml/2006/main">
            <a:srgbClr val="FF4D6D">
              <a:alpha val="8000"/>
            </a:srgbClr>
          </a:solidFill>
          <a:ln xmlns:a="http://schemas.openxmlformats.org/drawingml/2006/main" w="9525">
            <a:solidFill>
              <a:srgbClr val="FF4D6D">
                <a:alpha val="5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8970EFC-3652-4A04-BFF3-81259D51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F4D6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4D6D"/>
                </a:solidFill>
                <a:latin typeface="PingFang SC"/>
                <a:ea typeface="PingFang SC"/>
                <a:cs typeface="PingFang SC"/>
              </a:rPr>
              <a:t>严谨说明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F4913F4-F2F6-4643-BA19-323CFD56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1924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82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15" b="0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15" b="0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当前指标来自仓库内轻量样本与测试切分，用于验证训练、推理、指标展示链路完整性。若用于生产，应扩大真实数据集、加入时间切分验证与线上误报/漏报评估。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5A286F8-57D5-4CCB-877C-316CF703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81550"/>
            <a:ext cx="19240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>
              <a:alpha val="14000"/>
            </a:srgbClr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F8AF8E5-FD5B-491F-BC00-0EBEB965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29175"/>
            <a:ext cx="177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BBF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BBF24"/>
                </a:solidFill>
                <a:latin typeface="PingFang SC"/>
                <a:ea typeface="PingFang SC"/>
                <a:cs typeface="PingFang SC"/>
              </a:rPr>
              <a:t>功能验证 ≠ 生产泛化证明</a:t>
            </a:r>
          </a:p>
        </p:txBody>
      </p:sp>
    </p:spTree>
    <p:extLst>
      <p:ext uri="{BB962C8B-B14F-4D97-AF65-F5344CB8AC3E}">
        <p14:creationId xmlns:p14="http://schemas.microsoft.com/office/powerpoint/2010/main" val="550517982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58000">
              <a:srgbClr val="0B1628"/>
            </a:gs>
            <a:gs pos="100000">
              <a:srgbClr val="06101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AF0FE4-3D70-4D99-8E2D-65DB1073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5E5DE4-AA97-41A5-96D7-62FA2FA4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792AC-99D5-45B4-B392-1B7A8A630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2E4806-88DB-4714-8A8A-2EBF15834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B2E24F-6CFA-48D2-987F-77C0F5A4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7A1E7-94D4-440B-82E8-5DDE7678F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677EF9-E2CE-41F2-82CD-488C5176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C7AF5-7FD1-4DCE-B71A-C5E16AF2C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6FC465-77AC-4E72-B3AD-2E3F8BBE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57DDD7-3FB0-43F4-A2D1-81A0246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0A5A5C-152B-4BFC-9E49-03181985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46FE8E-B2E2-4CD8-8930-3C9F562B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8E6D4-5BE2-479F-A7E3-2A819F0C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E69F6-38F2-4070-BFB2-DE69341A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F6AA9-FD9E-4267-A697-2375300B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3AFD2-5214-4BCE-B2C1-DF6DD75D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2896F-F711-4379-8A5B-68FC585E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2C25DF-C6C8-49F5-8130-E7602833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5ED6C9-8D52-4821-BC65-DC2FCBD3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1D2538-0F2D-4538-ACAB-7AC9616F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0A083-4700-4DAF-9B03-686D1924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1728F3-A05F-4F2B-B80C-C4A798E7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A4A7AE-3316-4144-BE0F-BA743637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4D7E1-520E-4600-B5D0-66DF6BDDC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470969-A8E4-434F-9FDC-FE4F3FFD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AE6B7-A54C-4B17-86D7-FE571C4CE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A2AAC8-ED85-47DA-9AA1-A95C9DBA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0E9DF4-38D0-4A8B-8C7A-209917596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>
                  <a:alpha val="0"/>
                </a:srgbClr>
              </a:gs>
              <a:gs pos="52000">
                <a:srgbClr val="21D4FD">
                  <a:alpha val="7000"/>
                </a:srgbClr>
              </a:gs>
              <a:gs pos="100000">
                <a:srgbClr val="07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A6F6F2-E2C3-48D7-B9BE-3B8E5312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39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>
              <a:alpha val="5000"/>
            </a:srgbClr>
          </a:solidFill>
          <a:ln xmlns:a="http://schemas.openxmlformats.org/drawingml/2006/main" w="9525">
            <a:solidFill>
              <a:srgbClr val="21D4FD">
                <a:alpha val="2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6445AB-DF5A-43CD-9AFC-CDFF30D02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05 / TARGET MONITORING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0AF2CB-9191-4CF9-A4BF-C8B02E9F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实时目标监测：每个识别对象独立计数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E58C00-BB14-4951-9271-72AAC479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9298FE-9BE2-4817-AB1D-0BEF4F0F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ML TRAFFIC SECURITY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929F47-626D-4776-BD76-7AE83104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63">
                <a:alpha val="8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577C27C-CB9C-499A-96BF-49E828C4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rPr>
              <a:t>来源：SecurityScreenPage.tsx、monitor_service.py、database.py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49603D-3B7F-4FD9-8DAD-8D52F183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6C7DB"/>
                </a:solidFill>
                <a:latin typeface="Arial"/>
                <a:ea typeface="Arial"/>
                <a:cs typeface="Arial"/>
              </a:rPr>
              <a:t>06 / 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96FABE-5526-4C69-B188-D29838B6F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71600"/>
            <a:ext cx="432435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F2036">
              <a:alpha val="92000"/>
            </a:srgbClr>
          </a:solidFill>
          <a:ln xmlns:a="http://schemas.openxmlformats.org/drawingml/2006/main" w="11430">
            <a:solidFill>
              <a:srgbClr val="21D4FD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B5BAB5-0A2C-4326-8ED5-E9813A16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前端大屏目标选择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E03AED-F861-400F-84A2-AA781E5B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3409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33A">
              <a:alpha val="76000"/>
            </a:srgbClr>
          </a:solidFill>
          <a:ln xmlns:a="http://schemas.openxmlformats.org/drawingml/2006/main" w="9525">
            <a:solidFill>
              <a:srgbClr val="40E0A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BF072D-20A1-41C1-A08C-62D8AE5B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288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target_id = 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BA602A-A876-4217-9EB0-560C9BBB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localhost:5173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6EEFC9-260C-4257-BC8E-2B41D4B2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71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550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2DF84A-34B7-4FC5-ACE6-9B499066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527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已有事件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6318359-EC37-4F0D-9F10-4BFA61DE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3409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1D4FD">
              <a:alpha val="11000"/>
            </a:srgbClr>
          </a:solidFill>
          <a:ln xmlns:a="http://schemas.openxmlformats.org/drawingml/2006/main" w="9525">
            <a:solidFill>
              <a:srgbClr val="21D4FD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CDC92A-67AE-4D70-8EFC-2068CE17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6230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21D4F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D4FD"/>
                </a:solidFill>
                <a:latin typeface="Arial"/>
                <a:ea typeface="Arial"/>
                <a:cs typeface="Arial"/>
              </a:rPr>
              <a:t>target_id = 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1249009-5DD9-4DEF-9468-4DE3AC54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localhost:5174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C436C4E-6A6C-4B9E-A3CE-914C3CF9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550" b="1">
                <a:solidFill>
                  <a:srgbClr val="21D4F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1D4F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535903-693F-460B-BE51-87E52E33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48615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新建后从 0 开始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59BBA26-CE7A-426E-9809-F01CD040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3409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0233A">
              <a:alpha val="76000"/>
            </a:srgbClr>
          </a:solidFill>
          <a:ln xmlns:a="http://schemas.openxmlformats.org/drawingml/2006/main" w="9525">
            <a:solidFill>
              <a:srgbClr val="4F8CFF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8746D8E-BA08-473E-A750-08E76CC3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1104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target_id = 3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ED7E5E-2D78-4E41-A2B3-43B0639D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243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69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example.com:80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561ECA-5ED7-49E1-9F74-27306D7B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386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5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CE0766-0E8B-42A0-B708-5CA43530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19600"/>
            <a:ext cx="125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可扩展站点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66FDDA-3DE8-4F4B-BD55-F5B39600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259E58-ED8E-43B9-B357-C66C670F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967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新增 localhost 端口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302F63-903C-4257-8B5D-BE89E2D95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72050"/>
            <a:ext cx="1657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E0A0">
              <a:alpha val="14000"/>
            </a:srgbClr>
          </a:solidFill>
          <a:ln xmlns:a="http://schemas.openxmlformats.org/drawingml/2006/main" w="9525">
            <a:solidFill>
              <a:srgbClr val="40E0A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5F338F-FD44-4C05-B8E4-5BD22B7E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19675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目标维度切换统计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B2EF405-1E53-4AF7-891E-4A567A56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371600"/>
            <a:ext cx="6248400" cy="4095750"/>
          </a:xfrm>
          <a:prstGeom xmlns:a="http://schemas.openxmlformats.org/drawingml/2006/main" prst="roundRect">
            <a:avLst>
              <a:gd name="adj" fmla="val 2791"/>
            </a:avLst>
          </a:prstGeom>
          <a:solidFill xmlns:a="http://schemas.openxmlformats.org/drawingml/2006/main">
            <a:srgbClr val="0F2036">
              <a:alpha val="92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F9AB977-E41B-4674-8784-E8480249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00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target_id 隔离逻辑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D9D87D-C22D-425B-A01B-0288D06D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1581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21D4FD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C00E2C2-6D54-49F4-8D49-B3845027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>
              <a:alpha val="18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217DE34-8C5B-4804-9920-371435ED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241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1D4F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D4F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11CF3C-A466-439E-919A-72B991FC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764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23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site_targets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C285640-9320-454E-B0B0-3CF0BD3B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670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464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登记目标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host / scheme / port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9BB0033-EAF8-4F91-85C8-BE694CA8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14550"/>
            <a:ext cx="15811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4F8CFF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03EFCA-8C89-4572-8B40-35B52DAF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>
              <a:alpha val="18000"/>
            </a:srgbClr>
          </a:solidFill>
          <a:ln xmlns:a="http://schemas.openxmlformats.org/drawingml/2006/main" w="9525">
            <a:solidFill>
              <a:srgbClr val="4F8C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6223412-18AF-469A-9C21-87EA6F34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241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EEFC5EC-585C-4006-B5C2-3036E7B5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764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208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traffic_events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BA9246A-1CEB-45E7-AEA3-383B367A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67000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每条事件写入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target_id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C4F2788-51EF-4F9A-9DFE-01B8EA9CD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14550"/>
            <a:ext cx="1428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40E0A0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868977D-2DAA-4369-AEEF-B9C688BD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860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E0A0">
              <a:alpha val="18000"/>
            </a:srgbClr>
          </a:solidFill>
          <a:ln xmlns:a="http://schemas.openxmlformats.org/drawingml/2006/main" w="9525">
            <a:solidFill>
              <a:srgbClr val="40E0A0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4B43144-6239-4712-807F-0873A558C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241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4B572B3-4832-443A-B140-C2F808F4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276475"/>
            <a:ext cx="704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610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summary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A16AE86-D498-4A6A-8F68-BDAD782C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667000"/>
            <a:ext cx="1047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按 target_id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过滤聚合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97CD686-7A05-4CCF-81DD-8189BDE3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667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DB58B83-DB75-4B82-AB82-B011C775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670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8F44F82-AB36-4B86-B606-7FAAD86B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714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2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大屏展示口径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19F262D-E236-416D-A681-D9217DB2A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095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4C7CB03-C7B8-4F91-9CAC-056AA2BD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195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6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total_events、malicious_events、benign_events 均来自当前 target_id。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F1A2FE5-2915-44EA-AF24-C7682A0A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3F6D19A-5E62-48A8-AB2E-3BB131C8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3815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attack_counts、top_sources、latest_events 都按识别对象过滤。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D3CFE52-5650-48F5-A36D-1D3B4B16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819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E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BC8E9BB-6676-4C77-AE7D-9EE7E93D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7434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新建目标没有历史事件，因此前端统计天然从 0 开始。</a:t>
            </a:r>
          </a:p>
        </p:txBody>
      </p:sp>
    </p:spTree>
    <p:extLst>
      <p:ext uri="{BB962C8B-B14F-4D97-AF65-F5344CB8AC3E}">
        <p14:creationId xmlns:p14="http://schemas.microsoft.com/office/powerpoint/2010/main" val="1413065358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58000">
              <a:srgbClr val="0B1628"/>
            </a:gs>
            <a:gs pos="100000">
              <a:srgbClr val="06101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822AB5-D95C-4724-86FE-15F959E0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11BBE-F781-4335-8BD3-3E66D932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7AFC3-3CF5-44D2-9AC7-78AD6C724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F0B9CE-BF5D-4AE4-991E-C81D0774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E7118-0E25-4BD1-A60F-0707315F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163CA-B628-436D-B60A-2DF3AB32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87943-2E82-4641-AEFF-4E74EB25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87E47-547B-4884-BB20-B06519E6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6B84E-4391-434F-AE69-8AE4103A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1B9DE-BDD1-4BD9-BFDF-060FB1CD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14A76-3815-47E9-BE20-26D224FA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D397A-F543-4AD0-BB9C-729AE3DB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EAC983-72AD-4060-9961-FC897336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30878-231D-483D-867B-FEE6D7BC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28887-5045-4E48-A1BA-30C0B5BF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99ABDF-244B-444E-88F0-8B666F41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3D60A3-A37E-4963-B51F-765AF87C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DB421-0914-4B0A-A92E-CE176695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4ABF15-5AB4-47E2-BF67-F4C2D120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FEA9E-0DAA-4B0F-9631-6B714507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C083C5-8146-4185-B737-2B2DE44C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ABE4D-D955-4BBF-80A7-26717408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FCA1C-5CE7-4E7D-8810-E5466930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D35CA-BBC7-4534-B6C9-D5DA0251B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7427FE-72A9-425F-BFAE-090E3F00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30212-0CB2-4027-9C32-0A0A654E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8D6F70-AC67-4586-8583-CD946850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1F419C-E3F6-4B91-9CFB-D6259C5B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>
                  <a:alpha val="0"/>
                </a:srgbClr>
              </a:gs>
              <a:gs pos="52000">
                <a:srgbClr val="21D4FD">
                  <a:alpha val="7000"/>
                </a:srgbClr>
              </a:gs>
              <a:gs pos="100000">
                <a:srgbClr val="07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AA41CE-D187-4F99-8FD9-830B4F86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39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>
              <a:alpha val="5000"/>
            </a:srgbClr>
          </a:solidFill>
          <a:ln xmlns:a="http://schemas.openxmlformats.org/drawingml/2006/main" w="9525">
            <a:solidFill>
              <a:srgbClr val="21D4FD">
                <a:alpha val="2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295678-3290-449C-83FC-97A987FD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06 / DETECTION 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A3CBB3-9DAD-4432-9280-F6928B85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在线识别链路：请求进入后如何判定恶意流量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8D5EAA-27FA-4080-9986-F394DF42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4E9952-D4AA-4118-A6A2-BA358617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ML TRAFFIC SECURITY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9B5CB9-EE67-4F69-B80C-1AFF2B2B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63">
                <a:alpha val="8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307979-47C8-40C6-9FE4-26E551CC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rPr>
              <a:t>来源：prediction_service.py、monitor_service.py、security_repository.py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900DC5-E15B-4259-9649-5E83F685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6C7DB"/>
                </a:solidFill>
                <a:latin typeface="Arial"/>
                <a:ea typeface="Arial"/>
                <a:cs typeface="Arial"/>
              </a:rPr>
              <a:t>07 / 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072C0F-53BE-4AD0-BC6F-75BB074C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524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21D4FD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9AEEAF-610B-474D-B2FE-0AD17D66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>
              <a:alpha val="18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1F601A-7C44-4E36-B8BF-9139DD48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1D4F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D4F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2CAF5D-D99F-40BB-95C6-9E106E80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4307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9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观测事件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67A3B9-C54B-4788-ABF5-B73753C6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3360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目标、源 IP、端口、包长、速率、持续时间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B2E69B3-1F5B-4768-B702-47DD1BAB8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333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D2D72E3-5E53-4980-9FA5-796E87343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581150"/>
            <a:ext cx="1524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40E0A0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D81501-52D2-447F-893E-EB804D82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E0A0">
              <a:alpha val="18000"/>
            </a:srgbClr>
          </a:solidFill>
          <a:ln xmlns:a="http://schemas.openxmlformats.org/drawingml/2006/main" w="9525">
            <a:solidFill>
              <a:srgbClr val="40E0A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A8C4EB-9EB4-4779-A315-922E741E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90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D4E0F6-27D5-4DEC-BA62-CA635B98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4307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9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特征派生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7E85C12-7CAE-48DB-AC4C-5482DF12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derive_common_features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生成 15 列模型输入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95854B-D499-4AF1-B16C-E94ED34C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33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807E3B-2C37-4C63-9976-B0006D38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581150"/>
            <a:ext cx="1524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4F8CFF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406DEC-2960-4327-A948-51244F35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8CFF">
              <a:alpha val="18000"/>
            </a:srgbClr>
          </a:solidFill>
          <a:ln xmlns:a="http://schemas.openxmlformats.org/drawingml/2006/main" w="9525">
            <a:solidFill>
              <a:srgbClr val="4F8C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666A62C-3AAA-43E1-8EEF-77D0D421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90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1DCCF71-2265-42C9-84EE-5C259F84E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9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模型推理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35B99D-B459-481E-9FA0-EA73D859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3360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Decision Tree / Random Forest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predict + predict_proba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B9B969-E1AB-4493-A449-0BF30744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33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5B7B9B-A6B8-4B81-932C-E7EFC92D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81150"/>
            <a:ext cx="1524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FBBF24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C656568-10A3-443B-8E4C-62E412D1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>
              <a:alpha val="18000"/>
            </a:srgbClr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6221E23-E7DC-4680-81C8-6CF21F78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2A0E9F5-A48D-4EAD-860F-E94DD696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4307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9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风险映射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3F1F5C8-C73C-469E-8289-3E00FBAE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3360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label -&gt; low / medium / high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输出置信度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105955-2F48-4DFA-9234-5B93EBD7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33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A1F5FAE-D8EE-453E-8447-23B57D3A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81150"/>
            <a:ext cx="1524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9B7BFF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399AFB0-62AC-4BD5-BAD6-36363A7F8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7BFF">
              <a:alpha val="18000"/>
            </a:srgbClr>
          </a:solidFill>
          <a:ln xmlns:a="http://schemas.openxmlformats.org/drawingml/2006/main" w="9525">
            <a:solidFill>
              <a:srgbClr val="9B7B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C3048BD-9E41-4D25-8328-165D614D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9B7B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B7B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5F96152-6716-46A7-8DF2-CCD1F6AC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4307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持久化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2302F1F-6868-45C2-9FAA-AEF55A6A0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3360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predictions / traffic_events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写入 SQLite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7B3462C-E4EE-438C-9212-69DF5BBE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336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1A5E35-D337-47DE-AF4E-F11C6217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81150"/>
            <a:ext cx="1524000" cy="150495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FF4D6D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30FAF0-4A44-47BB-9574-D66FCABF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526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>
              <a:alpha val="18000"/>
            </a:srgbClr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C1E121-EE8F-431E-9B02-C84D1F11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790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4D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4D6D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E46B5C7-7322-455A-B36B-6C5569E6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743075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79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处置联动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A5D5BC0-2E14-41E3-90F0-E13FE317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133600"/>
            <a:ext cx="114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6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alerts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blacklist candidate / upserted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4305783-AECD-4161-9EDB-EE4C0AA2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76250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0F2036">
              <a:alpha val="92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FC8AEA8-A6D7-42CB-BB22-8774CA9A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风险等级映射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B0A375F-DDBD-4AB3-8361-CE594133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00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E0A0">
              <a:alpha val="14000"/>
            </a:srgbClr>
          </a:solidFill>
          <a:ln xmlns:a="http://schemas.openxmlformats.org/drawingml/2006/main" w="9525">
            <a:solidFill>
              <a:srgbClr val="40E0A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3396AE-F0E9-47A0-B28B-EEF95CC3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481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benign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B9C2788-CA97-478D-A855-0F907274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low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27E083-D706-4B2C-BC56-AB9C6C21D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005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6D">
              <a:alpha val="14000"/>
            </a:srgbClr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34F64CD-9395-428C-92F5-41C98666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481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FF4D6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4D6D"/>
                </a:solidFill>
                <a:latin typeface="PingFang SC"/>
                <a:ea typeface="PingFang SC"/>
                <a:cs typeface="PingFang SC"/>
              </a:rPr>
              <a:t>arp_spoof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B951F26-6957-4A73-9A34-EB49952A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386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4D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D6D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99C6676-EA45-4D39-B0D3-3D9ADAEC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196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6D">
              <a:alpha val="14000"/>
            </a:srgbClr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D11888A-5325-4F47-9828-1E801E97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672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FF4D6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4D6D"/>
                </a:solidFill>
                <a:latin typeface="PingFang SC"/>
                <a:ea typeface="PingFang SC"/>
                <a:cs typeface="PingFang SC"/>
              </a:rPr>
              <a:t>ddos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E28FBB4-A8C8-467F-A7E2-98337D3F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57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F4D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4D6D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FFC177E-C59C-40FA-9833-22B0496BE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196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>
              <a:alpha val="14000"/>
            </a:srgbClr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5A6A4C2-3F7C-488A-8B72-AE1D1672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86727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FBBF2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BBF24"/>
                </a:solidFill>
                <a:latin typeface="PingFang SC"/>
                <a:ea typeface="PingFang SC"/>
                <a:cs typeface="PingFang SC"/>
              </a:rPr>
              <a:t>trojan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131605B-C930-4EC5-BB69-0C90A019C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577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0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medium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CD5726D-8B56-4485-9373-B0745E5F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7053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21D4FD">
              <a:alpha val="8000"/>
            </a:srgbClr>
          </a:solidFill>
          <a:ln xmlns:a="http://schemas.openxmlformats.org/drawingml/2006/main" w="9525">
            <a:solidFill>
              <a:srgbClr val="21D4FD">
                <a:alpha val="5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4BCEC9F-91EB-4A7B-B605-3D82876E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433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可解释输出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6C9C923-8445-41E5-B6A9-04DE4062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434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9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B6C7DB"/>
                </a:solidFill>
                <a:latin typeface="Arial"/>
                <a:ea typeface="Arial"/>
                <a:cs typeface="Arial"/>
              </a:rPr>
              <a:t>predicted_label / predicted_label_id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0A56D4B-39B3-4A1F-9741-4C572DAA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5910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9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B6C7DB"/>
                </a:solidFill>
                <a:latin typeface="Arial"/>
                <a:ea typeface="Arial"/>
                <a:cs typeface="Arial"/>
              </a:rPr>
              <a:t>confidence / risk_level / model_name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08B73A9-E703-4E9C-A210-FC860E1C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387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9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B6C7DB"/>
                </a:solidFill>
                <a:latin typeface="Arial"/>
                <a:ea typeface="Arial"/>
                <a:cs typeface="Arial"/>
              </a:rPr>
              <a:t>top_features / prediction_id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3AC8E77-9033-4EEE-9EEC-80B7EEBA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863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95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163" b="0">
                <a:solidFill>
                  <a:srgbClr val="FBBF24"/>
                </a:solidFill>
                <a:latin typeface="Arial"/>
                <a:ea typeface="Arial"/>
                <a:cs typeface="Arial"/>
              </a:rPr>
              <a:t>alert_created / blacklist_action</a:t>
            </a:r>
          </a:p>
        </p:txBody>
      </p:sp>
    </p:spTree>
    <p:extLst>
      <p:ext uri="{BB962C8B-B14F-4D97-AF65-F5344CB8AC3E}">
        <p14:creationId xmlns:p14="http://schemas.microsoft.com/office/powerpoint/2010/main" val="71177441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58000">
              <a:srgbClr val="0B1628"/>
            </a:gs>
            <a:gs pos="100000">
              <a:srgbClr val="06101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700D23-BD6F-4C84-B18B-C25A28B4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CBF29-03AF-4E26-B4A6-D986E8FD3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AA4B41-DE3F-4BB1-A110-49A14C95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15BA0F-B5A0-4E96-855B-1D85F46F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0C545-3ABF-4AB2-AD2C-338A1E3C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2702B-712B-4772-A23B-E43662FA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B112F-F3E8-406A-8AF3-0E3D3B45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86CFFB-7143-4FC6-A45D-070CBCA4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8D1ECC-334C-4A12-8A03-F83C5720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4764C1-2DF5-4CCB-A753-86F2E944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68BBF-1E20-4570-B15A-B3CEE3AF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9D4A5-AC80-4C8C-9145-2735431A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E068D2-C586-4FCD-9651-2995A7B4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3E18D-3634-42F5-A43F-AD93289B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A5AC3-0E43-4C2C-A42C-598543CB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84688-3328-4E33-BE48-5B2ED39E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80EFF5-F6A2-4F71-B16B-1ED92128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8E093D-19C5-4B4D-A8D2-D96B3BFC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C70E99-66A8-42FC-BCC1-6270DBC86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D5F38-BB6D-4C13-9D1C-41224729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184620-DF90-445C-9297-01521879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2C32D3-7381-4E40-B7EC-ACD6EBE0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82F038-08DB-41B1-B0E8-00CA9907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2E591-1336-42C1-A363-9E1379E4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344814-25A5-4CB3-9AC0-B6542759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5F470E-5B2D-4B96-A713-7796C8D0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28B051-837E-4259-94CC-AC95873D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38114A-DAA4-476A-815E-F3A5BED7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>
                  <a:alpha val="0"/>
                </a:srgbClr>
              </a:gs>
              <a:gs pos="52000">
                <a:srgbClr val="21D4FD">
                  <a:alpha val="7000"/>
                </a:srgbClr>
              </a:gs>
              <a:gs pos="100000">
                <a:srgbClr val="07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A67727-DA1C-4814-BA4C-B4B71D1EB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39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>
              <a:alpha val="5000"/>
            </a:srgbClr>
          </a:solidFill>
          <a:ln xmlns:a="http://schemas.openxmlformats.org/drawingml/2006/main" w="9525">
            <a:solidFill>
              <a:srgbClr val="21D4FD">
                <a:alpha val="2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F0A1ED-3F19-4488-AC44-9B978EC7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07 / SECURITY SCREEN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9BB440-7433-43AF-A6D3-D9D8F49A7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科技感大屏：面向态势感知的第一入口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D03082-FB25-4A31-A733-5B40F8D6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21ECFB-2571-42AC-BFD5-A10D5362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ML TRAFFIC SECURITY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A28B8B-E83F-41E7-8100-38559E73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63">
                <a:alpha val="8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39B858-90FC-408E-AF9E-C37E68E4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rPr>
              <a:t>来源：frontend/src/main.tsx、SecurityScreenPage.tsx、frontend/src/api/security.ts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7A9C94-927A-4EAF-9057-4B0CF7E0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6C7DB"/>
                </a:solidFill>
                <a:latin typeface="Arial"/>
                <a:ea typeface="Arial"/>
                <a:cs typeface="Arial"/>
              </a:rPr>
              <a:t>08 / 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CDC4C6-08A9-43F9-BDCA-B1FA07C7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76350"/>
            <a:ext cx="10782300" cy="4686300"/>
          </a:xfrm>
          <a:prstGeom xmlns:a="http://schemas.openxmlformats.org/drawingml/2006/main" prst="roundRect">
            <a:avLst>
              <a:gd name="adj" fmla="val 2846"/>
            </a:avLst>
          </a:prstGeom>
          <a:solidFill xmlns:a="http://schemas.openxmlformats.org/drawingml/2006/main">
            <a:srgbClr val="07111F">
              <a:alpha val="88000"/>
            </a:srgbClr>
          </a:solidFill>
          <a:ln xmlns:a="http://schemas.openxmlformats.org/drawingml/2006/main" w="13335">
            <a:solidFill>
              <a:srgbClr val="21D4FD">
                <a:alpha val="5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3A87BA-8C2F-41AE-8495-E33B8678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5049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645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恶意流量识别系统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3941D8-0265-4711-806F-547446E3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526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安全态势感知大屏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AFE5622-075B-406A-A849-9B39FE78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562100"/>
            <a:ext cx="15621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689D64-A6E3-47F8-9301-C16076DF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6097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进入后台 /console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A85C9E-3695-41F0-9188-3CAEC2A74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562100"/>
            <a:ext cx="1752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E0A0">
              <a:alpha val="14000"/>
            </a:srgbClr>
          </a:solidFill>
          <a:ln xmlns:a="http://schemas.openxmlformats.org/drawingml/2006/main" w="9525">
            <a:solidFill>
              <a:srgbClr val="40E0A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DD6A6F-6A09-4957-8762-0E795323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609725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目标 localhost:5174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28551EE-D30C-4983-B7DF-4470055F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9525">
            <a:solidFill>
              <a:srgbClr val="21D4FD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00FDEA-0CFA-4484-9443-5B0C7B86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33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9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总观测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44CBED-BE70-4121-A60E-26BD3C00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2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21D4F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1D4FD"/>
                </a:solidFill>
                <a:latin typeface="Arial"/>
                <a:ea typeface="Arial"/>
                <a:cs typeface="Arial"/>
              </a:rPr>
              <a:t>128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E7CA57-7E80-4BEB-A467-E9335B8E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9525">
            <a:solidFill>
              <a:srgbClr val="FF4D6D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0BFE754-1AD7-4C5F-83AD-1157A907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33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9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恶意事件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EF38F7-8899-48C8-B7A4-3856C7E5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81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2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FF4D6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4D6D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4A4667D-B85A-4CD2-9421-0DA1B9AB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8125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9525">
            <a:solidFill>
              <a:srgbClr val="40E0A0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69FDFA-0E4C-4A8A-BBF5-E2128557D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33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9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正常流量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22317B-DD60-49EE-B089-651ADEA6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81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2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86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DE80EB5-7286-448D-A2CD-269EDD44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2190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9525">
            <a:solidFill>
              <a:srgbClr val="FBBF24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463E1D-0238-49FC-B261-3AD13F65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336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9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恶意占比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031D7A-B98E-4E03-9A4B-268F891D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1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2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32.8%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C7EEC36-427F-4AA8-A459-81B213AA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30099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33A">
              <a:alpha val="82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BB3580-9654-4577-BF43-4D6F9961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95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攻击分布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B60CE5F-B915-4896-8511-9E53A1BA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767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6C7DB"/>
                </a:solidFill>
                <a:latin typeface="Arial"/>
                <a:ea typeface="Arial"/>
                <a:cs typeface="Arial"/>
              </a:rPr>
              <a:t>DDoS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179C678-7B9F-47A6-8924-E010E24F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95750"/>
            <a:ext cx="1600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64F2808-40F6-45B2-BB73-339FC690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095750"/>
            <a:ext cx="134416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3BCCAD4-2E3A-426F-BF7C-600C05EC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6C7DB"/>
                </a:solidFill>
                <a:latin typeface="Arial"/>
                <a:ea typeface="Arial"/>
                <a:cs typeface="Arial"/>
              </a:rPr>
              <a:t>Trojan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9B5C77C-0190-46B3-B685-B418C177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57700"/>
            <a:ext cx="1600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CC9172E-DAFE-4034-8D54-A8EF0E8E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57700"/>
            <a:ext cx="768096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3B38094-B683-413C-BB5D-A2E48CCA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00600"/>
            <a:ext cx="704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6C7DB"/>
                </a:solidFill>
                <a:latin typeface="Arial"/>
                <a:ea typeface="Arial"/>
                <a:cs typeface="Arial"/>
              </a:rPr>
              <a:t>ARP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B618E3-71C6-4D9F-ADF9-51A0307F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19650"/>
            <a:ext cx="1600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11F">
              <a:alpha val="85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D29DBC-0604-40FF-ABDE-130B800D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19650"/>
            <a:ext cx="512064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CFF"/>
          </a:solidFill>
          <a:ln xmlns:a="http://schemas.openxmlformats.org/drawingml/2006/main" w="0">
            <a:solidFill>
              <a:srgbClr val="4F8C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FDF6720-8129-412B-8D16-86E286FB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05200"/>
            <a:ext cx="30670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33A">
              <a:alpha val="82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B646510-06FB-48C3-B01B-2669123C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95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最新事件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4EE17B6-FB73-4B7F-A1A7-E2988CC8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057650"/>
            <a:ext cx="723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6D">
              <a:alpha val="14000"/>
            </a:srgbClr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D7CA41E-A1FC-4E41-8D75-CA95D624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10527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FF4D6D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F4D6D"/>
                </a:solidFill>
                <a:latin typeface="PingFang SC"/>
                <a:ea typeface="PingFang SC"/>
                <a:cs typeface="PingFang SC"/>
              </a:rPr>
              <a:t>ddos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B9C0F77-5111-481D-8146-527D4AE5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767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9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198.51.100.200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EB62DB6-709D-4613-BF18-20706EBD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767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F4D6D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4D6D"/>
                </a:solidFill>
                <a:latin typeface="PingFang SC"/>
                <a:ea typeface="PingFang SC"/>
                <a:cs typeface="PingFang SC"/>
              </a:rPr>
              <a:t>高危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CCF11AC-88F1-4720-A36A-2DAE1FBD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19600"/>
            <a:ext cx="723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>
              <a:alpha val="14000"/>
            </a:srgbClr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8FAFB0F-D744-42D1-AF83-34F5E1E8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6722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FBBF24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FBBF24"/>
                </a:solidFill>
                <a:latin typeface="PingFang SC"/>
                <a:ea typeface="PingFang SC"/>
                <a:cs typeface="PingFang SC"/>
              </a:rPr>
              <a:t>trojan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B38176A-0A3A-4F54-BECE-776958FB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43865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9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198.51.100.88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8169A1B-826D-4A6E-ADF4-D63E5366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4386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FBBF24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BBF24"/>
                </a:solidFill>
                <a:latin typeface="PingFang SC"/>
                <a:ea typeface="PingFang SC"/>
                <a:cs typeface="PingFang SC"/>
              </a:rPr>
              <a:t>中危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9A32B1D-C15F-4E04-8D25-74B1528C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781550"/>
            <a:ext cx="7239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E0A0">
              <a:alpha val="14000"/>
            </a:srgbClr>
          </a:solidFill>
          <a:ln xmlns:a="http://schemas.openxmlformats.org/drawingml/2006/main" w="9525">
            <a:solidFill>
              <a:srgbClr val="40E0A0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4B2463A-B2C1-49B0-8548-C4152165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29175"/>
            <a:ext cx="571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750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750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benign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155EB7E-02B6-4718-B0CB-A4C8C0B9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006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99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013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198.51.100.21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7CFCA9D-1129-47D2-BDD5-48F94111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006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低危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575561B-4016-45E1-BEA8-C49FA003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05200"/>
            <a:ext cx="306705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10233A">
              <a:alpha val="82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D0EECC-6C03-4786-82D7-BDC2BE4C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957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大屏能力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250369E-CA60-46FF-B84E-E2056971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95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3276F9A-0658-4E33-A6D9-8275CB3A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195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识别对象选择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E5C499D-8E68-46CD-8301-75C82E06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62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BDD08E3-F051-49EF-A5B0-C7D784E1B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862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新增 localhost 端口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8E0FA08-4019-4B55-B2D6-66407BA5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29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05FFDD5-5E0B-44C4-903E-A04B7ED2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52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模拟攻击触发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C2483E3-51CC-467B-A7B0-CA1E4B9C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895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6C42BED-F6CA-4C1B-9132-4B552AD4B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19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23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Top 来源与告警态势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DED855E-730A-4959-894D-40BB06B8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626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0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访问路径：`/` 优先进入大屏，点击“进入后台”再进入 `/console` 控制台。</a:t>
            </a:r>
          </a:p>
        </p:txBody>
      </p:sp>
    </p:spTree>
    <p:extLst>
      <p:ext uri="{BB962C8B-B14F-4D97-AF65-F5344CB8AC3E}">
        <p14:creationId xmlns:p14="http://schemas.microsoft.com/office/powerpoint/2010/main" val="73769384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58000">
              <a:srgbClr val="0B1628"/>
            </a:gs>
            <a:gs pos="100000">
              <a:srgbClr val="06101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99475F-93DC-4C86-BA1A-E8105BDB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C830D-0B96-401A-867A-4802F5A2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360A9-7559-4094-80B5-D82EB772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F05A9-F0BE-401C-A3B8-0A5BCE80D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EA57A3-E26A-477E-ABEB-77D4B353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3BAB2D-D944-49B8-A41E-BB63B38F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A65AD-2039-4C67-80A2-71FD02FA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3CA7B8-4BBC-4A98-9197-4579CFAC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E09019-71F2-4DA6-8215-7C8F7700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009092-4E63-42ED-B3A0-EEE0DAFD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ED9D2-D0AE-408C-94F9-800F9089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34EF87-BAD7-4614-A5B0-664B9690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C0861-229E-436C-B098-78E1D02B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09EDF1-A145-4FC3-889E-A00F383B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F702B7-A556-4C13-A840-574D67B2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C86F6B-1040-44FB-B463-0200A836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36F0D-F7D3-4BD6-B3E4-F677BBE3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DF79E8-790B-431B-8A68-9BA6A9D8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9CBB1-428F-4904-9448-FC9AF423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3D708-A1A0-4AEE-976A-43F672D7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DCDCE5-ABA3-4801-9EF4-709827C8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12D6C5-12CF-4B83-B546-2A13044E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00BB9B-7F41-4873-AC7C-B4F3A578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9D79CC-551B-4D4C-A90C-C722A8F6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FA5D15-7FD3-48DB-AE7B-20009465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90D23-9B39-465E-A02C-3196014E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0A031F-24D9-4D01-AC16-42C34C5A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254D51-55E0-41EA-B5C5-EE338AB6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>
                  <a:alpha val="0"/>
                </a:srgbClr>
              </a:gs>
              <a:gs pos="52000">
                <a:srgbClr val="21D4FD">
                  <a:alpha val="7000"/>
                </a:srgbClr>
              </a:gs>
              <a:gs pos="100000">
                <a:srgbClr val="07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53DA1F-5AEA-40EF-B300-2B72DB04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39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>
              <a:alpha val="5000"/>
            </a:srgbClr>
          </a:solidFill>
          <a:ln xmlns:a="http://schemas.openxmlformats.org/drawingml/2006/main" w="9525">
            <a:solidFill>
              <a:srgbClr val="21D4FD">
                <a:alpha val="2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233274-0FEC-4A16-8151-F3C8ED22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08 / CONSOLE CAPABILITIES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955414-CF1E-4E2D-9029-54464B544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后台控制台：覆盖检测、回放、黑名单、指标与设置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B65DFF-887E-4D0F-B288-A5BE8836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C0C5C70-CB0A-4D97-963C-60945B8A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ML TRAFFIC SECURITY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DA1828-450A-4061-981F-F2B44E0F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63">
                <a:alpha val="8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A2B474-CCEF-47CE-9174-C79ABB0C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rPr>
              <a:t>来源：frontend/src/router/routes.tsx、frontend/src/pages/*.tsx、README.md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4FCE78D-3C0C-4F8A-B3F7-4902CCBB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6C7DB"/>
                </a:solidFill>
                <a:latin typeface="Arial"/>
                <a:ea typeface="Arial"/>
                <a:cs typeface="Arial"/>
              </a:rPr>
              <a:t>09 / 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C6F064-E686-4226-B728-5E619319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33528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10478">
            <a:solidFill>
              <a:srgbClr val="21D4FD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1F882B-4544-441B-B55F-FCD1307A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3830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>
                <a:alpha val="80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0088E2-24C1-4FC0-A2DD-708A2EDD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430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21D4F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1D4F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234476-56C3-4EB8-9572-DA1269FA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573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总览看板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20DA4A-DE7D-416E-AD62-26365309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574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4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汇总预测总量、恶意占比、开放告警、黑名单数量，并展示趋势与 Top 来源。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810EDA-2880-49E9-9889-77214CCB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390650"/>
            <a:ext cx="33528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10478">
            <a:solidFill>
              <a:srgbClr val="40E0A0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15B0159-FECC-4CB2-92D9-F75ED724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3830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40E0A0">
              <a:alpha val="14000"/>
            </a:srgbClr>
          </a:solidFill>
          <a:ln xmlns:a="http://schemas.openxmlformats.org/drawingml/2006/main" w="9525">
            <a:solidFill>
              <a:srgbClr val="40E0A0">
                <a:alpha val="8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F13FFB-F044-4BAB-8E69-0AB787B4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430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D16FAD7-799F-4187-9E96-B3634A1C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573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流量检测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7DA654-FD66-45D1-8C4E-E267C5AB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574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10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4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人工提交源/目的 IP、端口、包长和速率特征，返回类别、风险、置信度和关键特征。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F199B79-C44C-4E22-9103-DCF1EA7F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90650"/>
            <a:ext cx="33528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10478">
            <a:solidFill>
              <a:srgbClr val="4F8CFF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1EF335-350D-471D-99C8-96451730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3830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4F8CFF">
              <a:alpha val="14000"/>
            </a:srgbClr>
          </a:solidFill>
          <a:ln xmlns:a="http://schemas.openxmlformats.org/drawingml/2006/main" w="9525">
            <a:solidFill>
              <a:srgbClr val="4F8CFF">
                <a:alpha val="8000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32FFCA-0DE3-4284-B6B8-FC00E982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430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7503C63-4F80-4786-9616-785E1CBCF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演示回放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963DB31-5D48-4F25-96E4-3927E982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0574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4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按阶段触发演示流程，辅助讲解攻击态势变化和黑名单生成过程。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B0D62F-D395-47B1-8F93-55AE5B9C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3528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10478">
            <a:solidFill>
              <a:srgbClr val="FF4D6D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DF6CF12-D389-4908-ACAC-5D05CE89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4D6D">
              <a:alpha val="14000"/>
            </a:srgbClr>
          </a:solidFill>
          <a:ln xmlns:a="http://schemas.openxmlformats.org/drawingml/2006/main" w="9525">
            <a:solidFill>
              <a:srgbClr val="FF4D6D">
                <a:alpha val="8000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CCEB98-018B-4C54-87D5-02272247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242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F4D6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4D6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E8ABC1-3459-4DB2-A0EA-DB716EA1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385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黑名单管理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33B3E8E-B7CA-4862-9721-983E1519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4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展示自动拉黑与人工创建记录，支持新增、删除和来源解释。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433A7F4-6CDB-4DED-8DCD-8040B932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371850"/>
            <a:ext cx="33528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10478">
            <a:solidFill>
              <a:srgbClr val="FBBF24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410019D-B287-49CE-B0C4-AA2D9F76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1950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BBF24">
              <a:alpha val="14000"/>
            </a:srgbClr>
          </a:solidFill>
          <a:ln xmlns:a="http://schemas.openxmlformats.org/drawingml/2006/main" w="9525">
            <a:solidFill>
              <a:srgbClr val="FBBF24">
                <a:alpha val="8000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2ADAD3E-D329-4A6E-95AC-A72E8562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242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C01A4D3-A6FE-4CAC-915E-F8392A1E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模型指标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89AABDC-0F85-4C98-896F-42665BA7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386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4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读取模型评估报告、混淆矩阵和特征重要性，说明模型表现。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CDB50E3-FB71-4E65-BA61-F04AA2555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33528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10233A">
              <a:alpha val="88000"/>
            </a:srgbClr>
          </a:solidFill>
          <a:ln xmlns:a="http://schemas.openxmlformats.org/drawingml/2006/main" w="10478">
            <a:solidFill>
              <a:srgbClr val="9B7BFF">
                <a:alpha val="6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97B1FA8-7AE1-440B-8B60-554DADE7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51435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9B7BFF">
              <a:alpha val="14000"/>
            </a:srgbClr>
          </a:solidFill>
          <a:ln xmlns:a="http://schemas.openxmlformats.org/drawingml/2006/main" w="9525">
            <a:solidFill>
              <a:srgbClr val="9B7BFF">
                <a:alpha val="8000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F73877-3A11-4470-9A9C-89ADC60D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24275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0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>
                <a:solidFill>
                  <a:srgbClr val="9B7B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B7B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2A34EB1-9018-46EE-8DFD-1BC045FC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38550"/>
            <a:ext cx="2019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系统设置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E53DCD9-0BC9-4E34-9A9E-54B8AF36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38600"/>
            <a:ext cx="2095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40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展示默认模型、支持模型列表、自动拉黑阈值和演示模式状态。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1216DA-9FC5-494A-99C9-3CDBA124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9728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21D4FD">
              <a:alpha val="8000"/>
            </a:srgbClr>
          </a:solidFill>
          <a:ln xmlns:a="http://schemas.openxmlformats.org/drawingml/2006/main" w="9525">
            <a:solidFill>
              <a:srgbClr val="21D4FD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A0EEC2-228A-43ED-80A3-06C79AB9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15000"/>
            <a:ext cx="1019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7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控制台是面向运维与演示人员的操作面：大屏负责态势展示，控制台负责检测提交、策略维护和模型解释。</a:t>
            </a:r>
          </a:p>
        </p:txBody>
      </p:sp>
    </p:spTree>
    <p:extLst>
      <p:ext uri="{BB962C8B-B14F-4D97-AF65-F5344CB8AC3E}">
        <p14:creationId xmlns:p14="http://schemas.microsoft.com/office/powerpoint/2010/main" val="400340782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58000">
              <a:srgbClr val="0B1628"/>
            </a:gs>
            <a:gs pos="100000">
              <a:srgbClr val="06101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D26F06-A90B-495D-8848-3D4FCABC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648B83-29DE-46E4-AB12-32AED626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387073-0A51-429E-88FF-0914F69F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154E8-70E8-412F-9BD0-6B854AC8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718ED-B3B7-4DE8-AF5D-1DBC939E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4F7C8-1AC7-484F-BF92-E38843D9A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DE2B35-CB60-4A4E-88AB-00C23AC9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5352AC-B9EC-44A1-AB96-683B4355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881790-64B4-403F-B31A-F0BAF8F3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81086-561C-4CBC-A190-D3C61DDD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CE1C6-ECC0-48BB-B474-E6D6DE77E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CBC5DE-4F42-4597-8C70-CDDB1715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150806-091A-4D18-8153-9EEE47E6C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78D67-9572-42AE-AC60-0B024997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B7B1EE-2829-45DA-A4F4-A2F76AEA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9254C-FE7C-47C7-8942-5032BE63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A0BE07-AAB6-49D3-8985-399BB8447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F8670C-77D2-4996-B3F7-38388B332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81E62-6EDF-46C9-875F-A2FC1012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5AE1F5-F0B2-47AC-96E3-677A4655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E02919-C764-47B4-B457-033F1ADA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763610-0C0A-497F-AF00-3418A7DF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F5B5D3-F3A6-42A5-B92C-8ED89C055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5A511-6C4A-4A76-8FD2-CE89323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E9987-C89A-4D28-BEA5-2CBDA984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85EBB8-819B-4EBA-AD5E-C0B89A2F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69C387-19AB-44F7-8E3E-2647976D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7EF45B-B2CE-43FD-B2BA-C1F557D3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>
                  <a:alpha val="0"/>
                </a:srgbClr>
              </a:gs>
              <a:gs pos="52000">
                <a:srgbClr val="21D4FD">
                  <a:alpha val="7000"/>
                </a:srgbClr>
              </a:gs>
              <a:gs pos="100000">
                <a:srgbClr val="07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4FB3F-EA2F-4F33-ADA0-43A98A40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39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>
              <a:alpha val="5000"/>
            </a:srgbClr>
          </a:solidFill>
          <a:ln xmlns:a="http://schemas.openxmlformats.org/drawingml/2006/main" w="9525">
            <a:solidFill>
              <a:srgbClr val="21D4FD">
                <a:alpha val="2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05A9E3-D668-4568-B57D-4DBADBF2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09 / RESPONSE LOOP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66EEE9-80EF-4219-A95D-CABFFD55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告警与黑名单：从一次识别到持续处置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D0DA5B-7F69-4DEB-9B99-4C090E5A5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A34CF2-732D-4F65-8DF6-8C887FA6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ML TRAFFIC SECURITY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9A109B6-A9C2-46BD-BCE3-CDD379EF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63">
                <a:alpha val="8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BB5328-2F89-457A-8B6B-7B09A27A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rPr>
              <a:t>来源：prediction_service.py、backend/app/core/config.py、blacklist routes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45952A-7387-40CC-92A7-A2FCB52B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6C7DB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E9C22A-3C10-405E-A28A-8189F90E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F2036">
              <a:alpha val="92000"/>
            </a:srgbClr>
          </a:solidFill>
          <a:ln xmlns:a="http://schemas.openxmlformats.org/drawingml/2006/main" w="9525">
            <a:solidFill>
              <a:srgbClr val="26456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D6C09E-DCC8-4C8D-A499-4B8F5B44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52600"/>
            <a:ext cx="20383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FF4D6D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F77F5D-608C-4B0A-B347-3DDB3F40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2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D6D">
              <a:alpha val="18000"/>
            </a:srgbClr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28DAD7E-57AD-46CF-811F-1AC0BB6D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621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F4D6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4D6D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07AD7FC-EC8E-4EDF-A694-A45056C5D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9145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4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非 benign 预测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96547F4-4C10-456B-AA68-DD36D2B0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9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alert_created = true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2510EEA-18AF-4E7A-9405-67959D8E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907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4DF905-29DE-4DB5-AA38-02742A14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52600"/>
            <a:ext cx="20383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FBBF24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199015-4D4D-4694-A70D-C785F7DF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2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>
              <a:alpha val="18000"/>
            </a:srgbClr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815501-DEA4-451D-BCBF-A9FB30D2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621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9A56FB2-2D08-4C9F-B570-18989C68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145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创建告警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29C7920-C8D4-4566-A23F-6D83D287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050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55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alerts 表记录来源、目标、攻击类型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73B7D36-788C-4DDF-B506-D5705432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907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A7632D-90CE-4143-BF39-41AB3B9E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20383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21D4FD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5C3689-DE1B-4430-A74F-E429DC98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2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>
              <a:alpha val="18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A9450E-B982-4BD2-9105-120D0225A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621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21D4F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1D4FD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E152DC-C618-44B3-BD35-F431CF47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19145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命中计数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C4362FF-0608-49ED-BD58-63E49059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050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554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count_alert_hits(source_ip, attack_type)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D62A953-EC37-4F6F-8874-C7FF11DA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9075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5B7C20-646C-4A79-8662-131262F2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752600"/>
            <a:ext cx="20383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40E0A0">
                <a:alpha val="7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F48FB8-69AA-4BEC-B1F8-9BBFE2C5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24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E0A0">
              <a:alpha val="18000"/>
            </a:srgbClr>
          </a:solidFill>
          <a:ln xmlns:a="http://schemas.openxmlformats.org/drawingml/2006/main" w="9525">
            <a:solidFill>
              <a:srgbClr val="40E0A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464F684-E95B-478A-B116-ABD0B103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621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4819B3-6844-4488-BB7A-57410673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14525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自动黑名单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EBE748B-4E18-4A36-8593-2CE09A22A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05050"/>
            <a:ext cx="1657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9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达到阈值后 upsert blacklist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5836B3-C8B3-4B76-B69B-00D91314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4762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FF4D6D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5E57320-4ED0-42F4-8B9A-84A5A609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FF4D6D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FF4D6D"/>
                </a:solidFill>
                <a:latin typeface="PingFang SC"/>
                <a:ea typeface="PingFang SC"/>
                <a:cs typeface="PingFang SC"/>
              </a:rPr>
              <a:t>自动处置规则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EF74F9F-CC8C-4DC0-BA7F-2DBDF381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0050"/>
            <a:ext cx="3886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5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默认阈值：同一 source_ip + attack_type 连续命中 2 次后，系统写入或更新黑名单记录。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CE0E37-D861-425E-8A90-1BF2F8B5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0060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691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163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第一次命中通常标记为 candidate；达到阈值后 blacklist_action 返回 upserted。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AA217F5-2AD6-4235-99B1-8A00DE17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543300"/>
            <a:ext cx="476250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40E0A0">
                <a:alpha val="6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305A8FB-97EF-4EB7-A0A5-EB33409A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909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051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人工治理能力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36D898-1856-4201-95A0-AFF55CE0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29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1D4F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D4FD"/>
                </a:solidFill>
                <a:latin typeface="Arial"/>
                <a:ea typeface="Arial"/>
                <a:cs typeface="Arial"/>
              </a:rPr>
              <a:t>GET /blacklist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7F26B62-96AD-4949-A867-FBF789802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2291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51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查看当前黑名单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CD80D26-59CC-4740-9377-D83DC1EA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5148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1D4F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D4FD"/>
                </a:solidFill>
                <a:latin typeface="Arial"/>
                <a:ea typeface="Arial"/>
                <a:cs typeface="Arial"/>
              </a:rPr>
              <a:t>POST /blacklist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5D4BEE6-77CF-44FC-B681-174523F05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148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51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人工新增处置对象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D0E18C0-8336-455B-A196-60C8984A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00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21D4F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1D4FD"/>
                </a:solidFill>
                <a:latin typeface="Arial"/>
                <a:ea typeface="Arial"/>
                <a:cs typeface="Arial"/>
              </a:rPr>
              <a:t>DELETE /blacklist/{id}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964FDE0-568A-48EC-9E1C-B74C43B0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8006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51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删除指定记录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AE652EE-37B3-4F52-8808-F5B75A65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820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BBF24">
              <a:alpha val="9000"/>
            </a:srgbClr>
          </a:solidFill>
          <a:ln xmlns:a="http://schemas.openxmlformats.org/drawingml/2006/main" w="9525">
            <a:solidFill>
              <a:srgbClr val="FBBF24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D47B1C-470A-4B01-BE9A-D51DD50C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988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9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13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313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设计价值：把单次分类结果升级为可追踪的安全事件，并通过阈值策略降低“一次误判直接封禁”的处置风险。</a:t>
            </a:r>
          </a:p>
        </p:txBody>
      </p:sp>
    </p:spTree>
    <p:extLst>
      <p:ext uri="{BB962C8B-B14F-4D97-AF65-F5344CB8AC3E}">
        <p14:creationId xmlns:p14="http://schemas.microsoft.com/office/powerpoint/2010/main" val="1605249943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58000">
              <a:srgbClr val="0B1628"/>
            </a:gs>
            <a:gs pos="100000">
              <a:srgbClr val="06101D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CCF5F9-9960-404B-9A62-E7CF3F6A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5866D-874F-4C23-BA52-435168F6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B5580-F327-4D6A-AA95-2F65A0AF9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F9DF3-FF3B-4B22-9253-13E70F047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67289-03A9-4D4F-9BF0-29F401CA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AE380F-1D33-4681-A593-FED01421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14D84-2533-4138-BE59-214BF9CF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84002-3BDC-4BA8-A65C-2D379607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DB78F-5979-419A-8B70-5B41F8C4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91A15-17BD-4F5A-8E44-E48DA18D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1B133-E03D-4303-80CF-BA53515C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7E6E5-D335-4155-A3A1-C854EC6B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A89121-2F36-43C2-815E-8AE5B882A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990809-5A04-4E97-84A2-E7C3C5E2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1627B-DB10-43AF-92F4-9CE7DE0F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3B6D2F-0865-4DA0-91D9-7109E339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126E5-F5B6-4433-9BFF-9B71C2DF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976FE-E519-42B8-A312-6CD254A8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B73E40-5EB5-4CBE-8025-0115EF85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2AC382-19B1-4845-B706-BC687B89A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B86380-841E-4421-9383-7B5BB998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2D83B6-A628-4CB2-88E3-1F72A450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5CEBF6-46C0-4F81-BBDA-5C89B8ED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A3F64D-FAD0-4C56-9B7F-570444EE7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2BC7DA-886B-45C3-BD22-026FFF94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B76364-EB35-474B-92FA-25009F68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0D3E37-97BF-476A-9682-4B70DC59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5B1A87-9068-4401-BE2F-90F90A25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>
                  <a:alpha val="0"/>
                </a:srgbClr>
              </a:gs>
              <a:gs pos="52000">
                <a:srgbClr val="21D4FD">
                  <a:alpha val="7000"/>
                </a:srgbClr>
              </a:gs>
              <a:gs pos="100000">
                <a:srgbClr val="07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39A952-4E3D-4ABB-9A4B-53CA88EB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39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>
              <a:alpha val="5000"/>
            </a:srgbClr>
          </a:solidFill>
          <a:ln xmlns:a="http://schemas.openxmlformats.org/drawingml/2006/main" w="9525">
            <a:solidFill>
              <a:srgbClr val="21D4FD">
                <a:alpha val="2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CCF884-4CF6-41C0-B1ED-1ABCC8E1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10 / SIMULATION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8525A3-4218-4912-8480-A82F16F7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模拟攻击与验证：可控场景驱动实时展示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53A471-425B-4387-8EB1-D34BE9BB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4470FE-ED54-44F8-8003-09B2472E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ML TRAFFIC SECURITY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350B0B-110A-4E49-A745-3A0E75A6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63">
                <a:alpha val="8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0346DB-95CD-41D2-AFC5-4057E825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rPr>
              <a:t>来源：backend/app/services/simulator_service.py、scripts/dev/simulate_site_attack.py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C8917C-3FB8-4B34-B1C3-2469D2A8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6C7DB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B1127D6-69D7-41FB-A7EC-89EE1D47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0478">
            <a:solidFill>
              <a:srgbClr val="40E0A0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60FE96-70E7-4B56-AA91-5D38EC84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62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40E0A0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40E0A0"/>
                </a:solidFill>
                <a:latin typeface="Arial"/>
                <a:ea typeface="Arial"/>
                <a:cs typeface="Arial"/>
              </a:rPr>
              <a:t>normal_visit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102273-5D7B-4844-9642-B79FDB88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907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正常访问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1F5EDF-67CB-43CC-9155-57895CC2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33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普通用户浏览网页、加载静态资源和短连接访问。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D0E50D-93DE-4046-A2A3-15A4CC8B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288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E0A0">
              <a:alpha val="14000"/>
            </a:srgbClr>
          </a:solidFill>
          <a:ln xmlns:a="http://schemas.openxmlformats.org/drawingml/2006/main" w="9525">
            <a:solidFill>
              <a:srgbClr val="40E0A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BAA592-2C6F-4C97-979D-466FF489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8764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预期：benign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2AB63A-F999-4B12-A63B-1C5080A7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39065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0478">
            <a:solidFill>
              <a:srgbClr val="FF4D6D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53423E-E147-4F19-A6B9-A672B574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562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FF4D6D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F4D6D"/>
                </a:solidFill>
                <a:latin typeface="Arial"/>
                <a:ea typeface="Arial"/>
                <a:cs typeface="Arial"/>
              </a:rPr>
              <a:t>http_flood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DB256A-2990-42A7-B89D-997E1FC5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907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HTTP 洪泛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611B2F-F89B-4E0F-BABD-253EB828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83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大量短连接请求造成突发流量窗口，验证 DDoS 类识别。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EE3C4AE-2789-443B-9AC6-AF4C6133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288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6D">
              <a:alpha val="14000"/>
            </a:srgbClr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12A452-E42E-4FE0-B334-A49E8A2D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764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FF4D6D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F4D6D"/>
                </a:solidFill>
                <a:latin typeface="PingFang SC"/>
                <a:ea typeface="PingFang SC"/>
                <a:cs typeface="PingFang SC"/>
              </a:rPr>
              <a:t>预期：ddos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1C955E3-91D7-4547-99F8-CFA2A742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0478">
            <a:solidFill>
              <a:srgbClr val="FBBF24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98A4F1-D2A8-431E-AA31-EF35E0FF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86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FBBF24"/>
                </a:solidFill>
                <a:latin typeface="Arial"/>
                <a:ea typeface="Arial"/>
                <a:cs typeface="Arial"/>
              </a:rPr>
              <a:t>suspicious_c2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897D944-7D5D-4042-925F-AA198E92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疑似木马通信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53B639-E51B-468F-ABDB-A2FF47FE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低频、持续时间较长、包长波动明显的 C2 特征。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B99EB8D-C88C-41D8-9116-D4547AB3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3528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>
              <a:alpha val="14000"/>
            </a:srgbClr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CD47B2B-487A-47A1-95EB-EC0D0332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004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FBBF2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FBBF24"/>
                </a:solidFill>
                <a:latin typeface="PingFang SC"/>
                <a:ea typeface="PingFang SC"/>
                <a:cs typeface="PingFang SC"/>
              </a:rPr>
              <a:t>预期：trojan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DE7AF7-50C3-4E44-BD86-80FA6885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14650"/>
            <a:ext cx="49530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0478">
            <a:solidFill>
              <a:srgbClr val="4F8CFF">
                <a:alpha val="6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0E8FC4-ED30-4018-8261-5D94BCFD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8610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3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4F8CFF"/>
                </a:solidFill>
                <a:latin typeface="Arial"/>
                <a:ea typeface="Arial"/>
                <a:cs typeface="Arial"/>
              </a:defRPr>
            </a:pPr>
            <a:r>
              <a:rPr sz="938" b="1">
                <a:solidFill>
                  <a:srgbClr val="4F8CFF"/>
                </a:solidFill>
                <a:latin typeface="Arial"/>
                <a:ea typeface="Arial"/>
                <a:cs typeface="Arial"/>
              </a:rPr>
              <a:t>arp_spoof_lab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B0296E-A2D3-41A0-8306-D46F8933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1470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41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实验室 ARP 欺骗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B8C031C-128B-4C25-91C6-9CE548A2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08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仅用于隔离实验网段的二层攻击特征演示。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B7AD13-CEB7-43C3-8845-B4878AEC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3528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CFF">
              <a:alpha val="14000"/>
            </a:srgbClr>
          </a:solidFill>
          <a:ln xmlns:a="http://schemas.openxmlformats.org/drawingml/2006/main" w="9525">
            <a:solidFill>
              <a:srgbClr val="4F8CFF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B78DBD-0A62-4E92-921B-398DCAC2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400425"/>
            <a:ext cx="971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4F8CFF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4F8CFF"/>
                </a:solidFill>
                <a:latin typeface="PingFang SC"/>
                <a:ea typeface="PingFang SC"/>
                <a:cs typeface="PingFang SC"/>
              </a:rPr>
              <a:t>预期：arp_spoof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BA25A0C-EFEA-45C0-8C5F-4B5EBE1C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86300"/>
            <a:ext cx="104394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7111F">
              <a:alpha val="84000"/>
            </a:srgbClr>
          </a:solidFill>
          <a:ln xmlns:a="http://schemas.openxmlformats.org/drawingml/2006/main" w="9525">
            <a:solidFill>
              <a:srgbClr val="21D4FD">
                <a:alpha val="48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9EEDAFF-4415-44C5-93CC-776186F3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958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选择目标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FC7C87A-2FF5-4338-AE39-E4C6C8021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625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target_id / localhost 端口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45DC211-6AB7-49BE-8FF4-DF5AAD0F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105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4D60789-415A-4A36-AF2E-FE26429E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8958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运行场景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7653DB9-077C-409D-8A3C-B52DCC5F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1625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B6C7DB"/>
                </a:solidFill>
                <a:latin typeface="Arial"/>
                <a:ea typeface="Arial"/>
                <a:cs typeface="Arial"/>
              </a:rPr>
              <a:t>/simulator/run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951CA8F-F2A3-4352-9649-3627B327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05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CFE549E-4E17-4CD8-9A26-1F3CFF40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958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写入观测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6F992D-A706-4601-AFD7-54C8E319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51625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B6C7DB"/>
                </a:solidFill>
                <a:latin typeface="Arial"/>
                <a:ea typeface="Arial"/>
                <a:cs typeface="Arial"/>
              </a:rPr>
              <a:t>/monitor/ingest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10C39D9-E24F-4A62-A9CD-C4BAE28F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728333A-9442-48EE-AB73-41ACBE294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8958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模型识别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42A9B89-CFCF-42AC-8148-1F11DF8E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1625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B6C7DB"/>
                </a:solidFill>
                <a:latin typeface="Arial"/>
                <a:ea typeface="Arial"/>
                <a:cs typeface="Arial"/>
              </a:rPr>
              <a:t>/predict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0F9FA5C-96D7-47A2-9D60-F3215E81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05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362F096-85D5-4198-BAB1-79254DA0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95850"/>
            <a:ext cx="1352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169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大屏刷新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2B7E052-8823-45F1-92DB-0100160E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1625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63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38" b="0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B6C7DB"/>
                </a:solidFill>
                <a:latin typeface="Arial"/>
                <a:ea typeface="Arial"/>
                <a:cs typeface="Arial"/>
              </a:rPr>
              <a:t>summary / events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83FB584-94C5-453C-B21F-5D2B4FBA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10250"/>
            <a:ext cx="988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52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15" b="1">
                <a:solidFill>
                  <a:srgbClr val="FBBF24"/>
                </a:solidFill>
                <a:latin typeface="PingFang SC"/>
                <a:ea typeface="PingFang SC"/>
                <a:cs typeface="PingFang SC"/>
              </a:defRPr>
            </a:pPr>
            <a:r>
              <a:rPr sz="1215" b="1">
                <a:solidFill>
                  <a:srgbClr val="FBBF24"/>
                </a:solidFill>
                <a:latin typeface="PingFang SC"/>
                <a:ea typeface="PingFang SC"/>
                <a:cs typeface="PingFang SC"/>
              </a:rPr>
              <a:t>安全边界：模拟脚本默认生成模型观测事件，用于验证识别与展示链路；ARP 欺骗场景应限定在隔离实验网段。</a:t>
            </a:r>
          </a:p>
        </p:txBody>
      </p:sp>
    </p:spTree>
    <p:extLst>
      <p:ext uri="{BB962C8B-B14F-4D97-AF65-F5344CB8AC3E}">
        <p14:creationId xmlns:p14="http://schemas.microsoft.com/office/powerpoint/2010/main" val="1238617346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11F"/>
            </a:gs>
            <a:gs pos="45000">
              <a:srgbClr val="0B1628"/>
            </a:gs>
            <a:gs pos="100000">
              <a:srgbClr val="071A2B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7E7CF4-0E8B-4E3D-9D37-4CC05F0A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8D790-2EA6-4EA2-86CD-DA1F8B1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18157E-7C70-4D99-BD0F-3D88D6630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7C7A8E-ACA6-4F59-B9AF-A868822C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429D04-1502-4B24-BABB-AC4FE8B3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5C7A2-F345-4C6B-A830-7BC8E518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3B7DA-60C7-4173-9061-C468139E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A8BCA2-7BFB-4C9A-B7D3-8C72463D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65B8E-1E4B-4C69-833B-9178906E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79D29D-A19E-4F12-B898-EBC3149B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38552-0EEC-4690-9946-42616FB8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C35D4-3179-4D6F-AE54-482B43B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C4741C-113D-4931-BF31-F0BBA63A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15746-1A8F-4FEB-B1A9-528DD773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B38273-7069-4E33-BDC3-A9503E1F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A236F1-CC45-4EC9-BAC8-AC58B927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F1676C-EA7F-466B-8EFD-B3A886ABE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30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C0508-F8F0-4F57-B0D5-692017F9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49790-4D36-44A8-AB15-DB0118C8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F9F561-5865-4282-9E97-011E6522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E8F9FF-FC01-4428-9689-6C64C2E47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AE1E3B-0E4E-4708-B965-A2D53EF1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34064B-375F-4E20-ADF7-7992D61A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D3E391-7A93-410A-86B1-3C7B9BE0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31855-8EB9-4D1C-BC2F-E86424AB1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C6E497-E045-4917-A8A5-0292969C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0A659C-B67F-4B64-AFEB-7A46A292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1E3A55">
                <a:alpha val="24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4351B-CBB6-4942-BE07-784DCE42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111F">
                  <a:alpha val="0"/>
                </a:srgbClr>
              </a:gs>
              <a:gs pos="52000">
                <a:srgbClr val="21D4FD">
                  <a:alpha val="7000"/>
                </a:srgbClr>
              </a:gs>
              <a:gs pos="100000">
                <a:srgbClr val="07111F">
                  <a:alpha val="0"/>
                </a:srgbClr>
              </a:gs>
            </a:gsLst>
            <a:lin ang="540000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E222BF-35F1-4EF5-B8D4-2891D0FF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3900"/>
            <a:ext cx="3524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D4FD">
              <a:alpha val="5000"/>
            </a:srgbClr>
          </a:solidFill>
          <a:ln xmlns:a="http://schemas.openxmlformats.org/drawingml/2006/main" w="9525">
            <a:solidFill>
              <a:srgbClr val="21D4FD">
                <a:alpha val="2400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B1785C-7A6B-41A6-8591-9A12A10B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81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11 / DEPLOYMENT &amp; ROADMAP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C07541-F424-443A-ABBD-AA84F4D1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部署与演进路线：从演示系统走向可接入平台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08EE65-D579-4EB6-BE62-16C7EE30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95300"/>
            <a:ext cx="21336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2D4802-FDFF-4A60-B90B-F394126A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2925"/>
            <a:ext cx="1981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ML TRAFFIC SECURITY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881B5F-0B22-46FC-8D49-B656501F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4563">
                <a:alpha val="8000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7F75AB-6864-4164-9BFD-05D374CF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800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6F86A3"/>
                </a:solidFill>
                <a:latin typeface="PingFang SC"/>
                <a:ea typeface="PingFang SC"/>
                <a:cs typeface="PingFang SC"/>
              </a:rPr>
              <a:t>来源：docs/deployment/README.md、deploy/*、ecosystem.config.cjs、docs/architecture/README.md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B694AB-5576-409D-B51D-30E9AEEC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865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B6C7D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6C7DB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545C0B-107C-4AFF-A895-9E304F0D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33528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21D4FD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773EBB-E00C-4EDD-BC7F-8C98C34D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当前工程基础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6D24B6-D442-4B6E-BE41-5E0414FF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E58F0DF-9180-47F4-873A-99E47D1B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FastAPI + SQLite 服务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7E1C72-3320-447C-9AEF-61B4E353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4A7508-631B-4A55-B747-544EF5B6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React/Vite 前端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CFF7FE-4EF4-41B4-BE4E-0CF466F6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F26B0A8-B918-42CF-8A6B-5C22828D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PM2 / Nginx 部署材料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884C5B1-0503-4802-B985-036ABE89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D4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A083B5-5E79-41E7-A36E-BFCCF401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pytest 与构建验证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3CE784B-BCA8-4A91-B87C-C22D8341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28750"/>
            <a:ext cx="33528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40E0A0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A6AFF7-9140-4E13-B0BF-1513CE053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95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生产化增强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BD4D7E-E7C5-4AD0-B0D9-3D11F50D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E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ABF3D8-7625-4E58-A02A-501A6F4E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171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接入真实流量采集器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3EED663-7C5B-491D-A598-438F07C5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E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417E063-80CB-4143-B046-C30A834A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90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扩大数据集与标签质量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3FE968-6FBB-4090-89DF-B6F55666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E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0356487-467F-4BF5-96AA-4D23E9E7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09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引入时间切分与线上评估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E6BA20-5151-41D7-9143-7F3274B6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E0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7F0E12-8088-4AA1-8EF9-3913561D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29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误报/漏报反馈闭环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F6047F1-4541-4345-83D3-F9897B2F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28750"/>
            <a:ext cx="3352800" cy="270510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10233A">
              <a:alpha val="90000"/>
            </a:srgbClr>
          </a:solidFill>
          <a:ln xmlns:a="http://schemas.openxmlformats.org/drawingml/2006/main" w="11430">
            <a:solidFill>
              <a:srgbClr val="FBBF24">
                <a:alpha val="70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17F423-A43C-4E48-B6E4-9C24E529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5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FBBF24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BBF24"/>
                </a:solidFill>
                <a:latin typeface="PingFang SC"/>
                <a:ea typeface="PingFang SC"/>
                <a:cs typeface="PingFang SC"/>
              </a:rPr>
              <a:t>平台化演进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F329B03-BFBF-4D83-87DA-3FAE2DAD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90EA67-ED3F-4F79-8937-C81120B9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71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多站点统一资产管理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3844189-21C4-4696-9725-BC873070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104E6DC-0D9E-4A51-B5A5-95F4BD0D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908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策略规则与模型组合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F8B1F8B-FC82-4B51-9337-3F918CA0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8622455-3848-41ED-ACE6-FD7F54F4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09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告警分级派单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2980078-19D6-4841-821D-53C744EE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24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F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14F03D3-06F1-4316-98DD-41075F522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29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9349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defRPr>
            </a:pPr>
            <a:r>
              <a:rPr sz="1238" b="0">
                <a:solidFill>
                  <a:srgbClr val="B6C7DB"/>
                </a:solidFill>
                <a:latin typeface="PingFang SC"/>
                <a:ea typeface="PingFang SC"/>
                <a:cs typeface="PingFang SC"/>
              </a:rPr>
              <a:t>报表、审计与权限体系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24D0CC-D615-408E-997F-BFA6F048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104394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7111F">
              <a:alpha val="82000"/>
            </a:srgbClr>
          </a:solidFill>
          <a:ln xmlns:a="http://schemas.openxmlformats.org/drawingml/2006/main" w="9525">
            <a:solidFill>
              <a:srgbClr val="21D4FD">
                <a:alpha val="45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817513-98B9-4A8D-A98C-71AE91CE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5300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8CFF">
              <a:alpha val="14000"/>
            </a:srgbClr>
          </a:solidFill>
          <a:ln xmlns:a="http://schemas.openxmlformats.org/drawingml/2006/main" w="9525">
            <a:solidFill>
              <a:srgbClr val="4F8C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EDA00D-4021-48C1-BB36-04B42AEE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006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4F8C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F8CFF"/>
                </a:solidFill>
                <a:latin typeface="PingFang SC"/>
                <a:ea typeface="PingFang SC"/>
                <a:cs typeface="PingFang SC"/>
              </a:rPr>
              <a:t>React/Vite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05FFFDE-4555-4C95-AE58-DEB54273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F14B204-0C82-40EE-9EA1-04459FE4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5300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1D4FD">
              <a:alpha val="14000"/>
            </a:srgbClr>
          </a:solidFill>
          <a:ln xmlns:a="http://schemas.openxmlformats.org/drawingml/2006/main" w="9525">
            <a:solidFill>
              <a:srgbClr val="21D4F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EC16177-AB67-4DCE-9F91-A1978E1A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0006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21D4FD"/>
                </a:solidFill>
                <a:latin typeface="PingFang SC"/>
                <a:ea typeface="PingFang SC"/>
                <a:cs typeface="PingFang SC"/>
              </a:rPr>
              <a:t>Nginx / PM2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503996F-2326-4115-AEEA-E143635C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D08841A-B77A-4A18-AEA2-20809641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95300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0E0A0">
              <a:alpha val="14000"/>
            </a:srgbClr>
          </a:solidFill>
          <a:ln xmlns:a="http://schemas.openxmlformats.org/drawingml/2006/main" w="9525">
            <a:solidFill>
              <a:srgbClr val="40E0A0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71B17E4-49ED-4EF2-9CD4-A35A4013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50006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40E0A0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40E0A0"/>
                </a:solidFill>
                <a:latin typeface="PingFang SC"/>
                <a:ea typeface="PingFang SC"/>
                <a:cs typeface="PingFang SC"/>
              </a:rPr>
              <a:t>FastAPI / Uvicorn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7264025-D030-40D9-921B-C03B15EC1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97AA7EF-B919-437D-99D0-3DC5B2A0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95300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BF24">
              <a:alpha val="14000"/>
            </a:srgbClr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7B999F3-CBD1-439D-BFDB-F3453663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006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BBF24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BBF24"/>
                </a:solidFill>
                <a:latin typeface="PingFang SC"/>
                <a:ea typeface="PingFang SC"/>
                <a:cs typeface="PingFang SC"/>
              </a:rPr>
              <a:t>SQLite / Models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BDFB53B-DFBB-49B1-BD86-73DB9BFD0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1149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D4FD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CDA682A-9F43-4A4B-949B-947E2D36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5300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6D">
              <a:alpha val="14000"/>
            </a:srgbClr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B1CBDAA-5A13-48C8-819A-8EFF9909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000625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00" b="1">
                <a:solidFill>
                  <a:srgbClr val="FF4D6D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4D6D"/>
                </a:solidFill>
                <a:latin typeface="PingFang SC"/>
                <a:ea typeface="PingFang SC"/>
                <a:cs typeface="PingFang SC"/>
              </a:rPr>
              <a:t>Future Collector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46B3B31-82D0-47D2-96DF-5D7ED553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912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52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88" b="1">
                <a:solidFill>
                  <a:srgbClr val="F8FAFC"/>
                </a:solidFill>
                <a:latin typeface="PingFang SC"/>
                <a:ea typeface="PingFang SC"/>
                <a:cs typeface="PingFang SC"/>
              </a:defRPr>
            </a:pPr>
            <a:r>
              <a:rPr sz="1388" b="1">
                <a:solidFill>
                  <a:srgbClr val="F8FAFC"/>
                </a:solidFill>
                <a:latin typeface="PingFang SC"/>
                <a:ea typeface="PingFang SC"/>
                <a:cs typeface="PingFang SC"/>
              </a:rPr>
              <a:t>总结：项目已经具备“目标接入、特征识别、实时展示、告警处置、模拟验证、部署运行”的完整闭环，下一阶段重点是把流量采集和数据规模做实。</a:t>
            </a:r>
          </a:p>
        </p:txBody>
      </p:sp>
    </p:spTree>
    <p:extLst>
      <p:ext uri="{BB962C8B-B14F-4D97-AF65-F5344CB8AC3E}">
        <p14:creationId xmlns:p14="http://schemas.microsoft.com/office/powerpoint/2010/main" val="13138147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2026-06-15T14:57:06.8520000Z</dcterms:created>
  <dcterms:modified xsi:type="dcterms:W3CDTF">2026-06-15T14:57:06.8520000Z</dcterms:modified>
</coreProperties>
</file>